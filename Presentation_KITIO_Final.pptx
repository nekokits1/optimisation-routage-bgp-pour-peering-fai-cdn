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42"/>
  </p:notesMasterIdLst>
  <p:handoutMasterIdLst>
    <p:handoutMasterId r:id="rId43"/>
  </p:handoutMasterIdLst>
  <p:sldIdLst>
    <p:sldId id="256" r:id="rId5"/>
    <p:sldId id="259" r:id="rId6"/>
    <p:sldId id="262" r:id="rId7"/>
    <p:sldId id="258" r:id="rId8"/>
    <p:sldId id="263" r:id="rId9"/>
    <p:sldId id="264" r:id="rId10"/>
    <p:sldId id="265" r:id="rId11"/>
    <p:sldId id="267" r:id="rId12"/>
    <p:sldId id="266" r:id="rId13"/>
    <p:sldId id="268" r:id="rId14"/>
    <p:sldId id="269"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92" r:id="rId32"/>
    <p:sldId id="287" r:id="rId33"/>
    <p:sldId id="288" r:id="rId34"/>
    <p:sldId id="289" r:id="rId35"/>
    <p:sldId id="290" r:id="rId36"/>
    <p:sldId id="293" r:id="rId37"/>
    <p:sldId id="294" r:id="rId38"/>
    <p:sldId id="295" r:id="rId39"/>
    <p:sldId id="296" r:id="rId40"/>
    <p:sldId id="260" r:id="rId41"/>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8" autoAdjust="0"/>
  </p:normalViewPr>
  <p:slideViewPr>
    <p:cSldViewPr snapToGrid="0">
      <p:cViewPr>
        <p:scale>
          <a:sx n="38" d="100"/>
          <a:sy n="38" d="100"/>
        </p:scale>
        <p:origin x="56" y="716"/>
      </p:cViewPr>
      <p:guideLst/>
    </p:cSldViewPr>
  </p:slideViewPr>
  <p:notesTextViewPr>
    <p:cViewPr>
      <p:scale>
        <a:sx n="1" d="1"/>
        <a:sy n="1" d="1"/>
      </p:scale>
      <p:origin x="0" y="0"/>
    </p:cViewPr>
  </p:notesTextViewPr>
  <p:notesViewPr>
    <p:cSldViewPr snapToGrid="0">
      <p:cViewPr varScale="1">
        <p:scale>
          <a:sx n="86" d="100"/>
          <a:sy n="86" d="100"/>
        </p:scale>
        <p:origin x="2994"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dgm:spPr/>
      <dgm:t>
        <a:bodyPr rtlCol="0"/>
        <a:lstStyle/>
        <a:p>
          <a:pPr rtl="0">
            <a:lnSpc>
              <a:spcPct val="100000"/>
            </a:lnSpc>
          </a:pPr>
          <a:r>
            <a:rPr lang="fr-FR" b="1" noProof="0" dirty="0"/>
            <a:t>1- INTRODUCTION</a:t>
          </a:r>
          <a:r>
            <a:rPr lang="fr-FR" noProof="0" dirty="0"/>
            <a:t>	</a:t>
          </a:r>
        </a:p>
      </dgm:t>
    </dgm:pt>
    <dgm:pt modelId="{720680DC-AAA4-4434-A582-60EBCC5BA355}" type="parTrans" cxnId="{0B5DAE5F-BCDC-4BF7-A6E7-CF856886A64D}">
      <dgm:prSet/>
      <dgm:spPr/>
      <dgm:t>
        <a:bodyPr rtlCol="0"/>
        <a:lstStyle/>
        <a:p>
          <a:pPr rtl="0"/>
          <a:endParaRPr lang="fr-FR" noProof="0" dirty="0"/>
        </a:p>
      </dgm:t>
    </dgm:pt>
    <dgm:pt modelId="{CA077D98-8478-47EA-B6A9-99ACE60C64D4}" type="sibTrans" cxnId="{0B5DAE5F-BCDC-4BF7-A6E7-CF856886A64D}">
      <dgm:prSet/>
      <dgm:spPr/>
      <dgm:t>
        <a:bodyPr rtlCol="0"/>
        <a:lstStyle/>
        <a:p>
          <a:pPr rtl="0"/>
          <a:endParaRPr lang="fr-FR" noProof="0" dirty="0"/>
        </a:p>
      </dgm:t>
    </dgm:pt>
    <dgm:pt modelId="{0BEF68B8-1228-47BB-83B5-7B9CD1E3F84E}">
      <dgm:prSet phldrT="[Text]"/>
      <dgm:spPr/>
      <dgm:t>
        <a:bodyPr rtlCol="0"/>
        <a:lstStyle/>
        <a:p>
          <a:pPr rtl="0">
            <a:lnSpc>
              <a:spcPct val="100000"/>
            </a:lnSpc>
          </a:pPr>
          <a:r>
            <a:rPr lang="fr-FR" b="1" noProof="0" dirty="0"/>
            <a:t>5- VALIDATION DE LA SOLUTION</a:t>
          </a:r>
        </a:p>
      </dgm:t>
    </dgm:pt>
    <dgm:pt modelId="{ED3A4BC2-B75A-4952-A38B-A42B5995DF05}" type="parTrans" cxnId="{EDEF4F82-1237-4639-A0F7-385C1897CE66}">
      <dgm:prSet/>
      <dgm:spPr/>
      <dgm:t>
        <a:bodyPr rtlCol="0"/>
        <a:lstStyle/>
        <a:p>
          <a:pPr rtl="0"/>
          <a:endParaRPr lang="fr-FR" noProof="0" dirty="0"/>
        </a:p>
      </dgm:t>
    </dgm:pt>
    <dgm:pt modelId="{FD949706-EDCC-4ADC-8EDF-8EDA49C92325}" type="sibTrans" cxnId="{EDEF4F82-1237-4639-A0F7-385C1897CE66}">
      <dgm:prSet/>
      <dgm:spPr/>
      <dgm:t>
        <a:bodyPr rtlCol="0"/>
        <a:lstStyle/>
        <a:p>
          <a:pPr rtl="0"/>
          <a:endParaRPr lang="fr-FR" noProof="0" dirty="0"/>
        </a:p>
      </dgm:t>
    </dgm:pt>
    <dgm:pt modelId="{5605D28D-2CE6-4513-8566-952984E21E14}">
      <dgm:prSet phldrT="[Text]"/>
      <dgm:spPr/>
      <dgm:t>
        <a:bodyPr rtlCol="0"/>
        <a:lstStyle/>
        <a:p>
          <a:pPr rtl="0">
            <a:lnSpc>
              <a:spcPct val="100000"/>
            </a:lnSpc>
          </a:pPr>
          <a:r>
            <a:rPr lang="fr-FR" b="1" noProof="0" dirty="0"/>
            <a:t>6- LIMITES ET PERSPECTIVES</a:t>
          </a:r>
        </a:p>
      </dgm:t>
    </dgm:pt>
    <dgm:pt modelId="{EB15AB98-362B-4E70-A3DA-995FC3E8BA79}" type="parTrans" cxnId="{FAF3F884-F0CF-440F-8CB1-B7648AB1B138}">
      <dgm:prSet/>
      <dgm:spPr/>
      <dgm:t>
        <a:bodyPr rtlCol="0"/>
        <a:lstStyle/>
        <a:p>
          <a:pPr rtl="0"/>
          <a:endParaRPr lang="fr-FR" noProof="0" dirty="0"/>
        </a:p>
      </dgm:t>
    </dgm:pt>
    <dgm:pt modelId="{823D1971-2C4D-4EC5-A874-2F463DE37109}" type="sibTrans" cxnId="{FAF3F884-F0CF-440F-8CB1-B7648AB1B138}">
      <dgm:prSet/>
      <dgm:spPr/>
      <dgm:t>
        <a:bodyPr rtlCol="0"/>
        <a:lstStyle/>
        <a:p>
          <a:pPr rtl="0"/>
          <a:endParaRPr lang="fr-FR" noProof="0" dirty="0"/>
        </a:p>
      </dgm:t>
    </dgm:pt>
    <dgm:pt modelId="{D9494BC1-DD0D-4127-9E56-2D68E209929A}">
      <dgm:prSet phldrT="[Text]"/>
      <dgm:spPr/>
      <dgm:t>
        <a:bodyPr rtlCol="0"/>
        <a:lstStyle/>
        <a:p>
          <a:pPr rtl="0"/>
          <a:r>
            <a:rPr lang="fr-FR" b="1" noProof="0" dirty="0"/>
            <a:t>2- PRESENTATION DE L’ENTREPRISE	</a:t>
          </a:r>
        </a:p>
      </dgm:t>
    </dgm:pt>
    <dgm:pt modelId="{08547BDF-D405-47CB-98E0-A209DD409378}" type="parTrans" cxnId="{E5F23393-1E82-47BB-9FCA-89C6482D31F0}">
      <dgm:prSet/>
      <dgm:spPr/>
      <dgm:t>
        <a:bodyPr/>
        <a:lstStyle/>
        <a:p>
          <a:endParaRPr lang="fr-CM"/>
        </a:p>
      </dgm:t>
    </dgm:pt>
    <dgm:pt modelId="{99A04EB4-2FDD-4B3B-B827-7F14DDBFACD6}" type="sibTrans" cxnId="{E5F23393-1E82-47BB-9FCA-89C6482D31F0}">
      <dgm:prSet/>
      <dgm:spPr/>
      <dgm:t>
        <a:bodyPr/>
        <a:lstStyle/>
        <a:p>
          <a:endParaRPr lang="fr-CM"/>
        </a:p>
      </dgm:t>
    </dgm:pt>
    <dgm:pt modelId="{DD807F26-DA67-4A8F-A39E-2017A99E4FAA}">
      <dgm:prSet phldrT="[Text]"/>
      <dgm:spPr/>
      <dgm:t>
        <a:bodyPr rtlCol="0"/>
        <a:lstStyle/>
        <a:p>
          <a:pPr rtl="0"/>
          <a:r>
            <a:rPr lang="fr-FR" b="1" noProof="0" dirty="0"/>
            <a:t>3- IDENTIFICATION DES PROBLEMES	</a:t>
          </a:r>
        </a:p>
      </dgm:t>
    </dgm:pt>
    <dgm:pt modelId="{F50A5180-830C-4BB6-8E65-73FB5D30CE80}" type="parTrans" cxnId="{4B327790-9826-4EE4-A38D-99818B7F2234}">
      <dgm:prSet/>
      <dgm:spPr/>
      <dgm:t>
        <a:bodyPr/>
        <a:lstStyle/>
        <a:p>
          <a:endParaRPr lang="fr-CM"/>
        </a:p>
      </dgm:t>
    </dgm:pt>
    <dgm:pt modelId="{2D7C638C-D555-40A6-805A-C7C554B3D953}" type="sibTrans" cxnId="{4B327790-9826-4EE4-A38D-99818B7F2234}">
      <dgm:prSet/>
      <dgm:spPr/>
      <dgm:t>
        <a:bodyPr/>
        <a:lstStyle/>
        <a:p>
          <a:endParaRPr lang="fr-CM"/>
        </a:p>
      </dgm:t>
    </dgm:pt>
    <dgm:pt modelId="{820625FA-492B-4963-971B-04492CECD35D}">
      <dgm:prSet phldrT="[Text]"/>
      <dgm:spPr/>
      <dgm:t>
        <a:bodyPr rtlCol="0"/>
        <a:lstStyle/>
        <a:p>
          <a:pPr rtl="0"/>
          <a:r>
            <a:rPr lang="fr-FR" b="1" noProof="0" dirty="0"/>
            <a:t>4- CONCEPTION DE LA SOLUTION</a:t>
          </a:r>
        </a:p>
      </dgm:t>
    </dgm:pt>
    <dgm:pt modelId="{218B6287-74D3-4E23-B615-930F12683D57}" type="parTrans" cxnId="{75A541A0-47FC-4D6E-9177-D99E47D8688A}">
      <dgm:prSet/>
      <dgm:spPr/>
      <dgm:t>
        <a:bodyPr/>
        <a:lstStyle/>
        <a:p>
          <a:endParaRPr lang="fr-CM"/>
        </a:p>
      </dgm:t>
    </dgm:pt>
    <dgm:pt modelId="{B454A691-92B7-40A4-8521-89007FEEDE8A}" type="sibTrans" cxnId="{75A541A0-47FC-4D6E-9177-D99E47D8688A}">
      <dgm:prSet/>
      <dgm:spPr/>
      <dgm:t>
        <a:bodyPr/>
        <a:lstStyle/>
        <a:p>
          <a:endParaRPr lang="fr-CM"/>
        </a:p>
      </dgm:t>
    </dgm:pt>
    <dgm:pt modelId="{ADA3B7DE-48F2-4919-967D-D0B3FE75CAF0}">
      <dgm:prSet phldrT="[Text]"/>
      <dgm:spPr/>
      <dgm:t>
        <a:bodyPr rtlCol="0"/>
        <a:lstStyle/>
        <a:p>
          <a:pPr rtl="0"/>
          <a:r>
            <a:rPr lang="fr-FR" b="1" noProof="0" dirty="0"/>
            <a:t>7- CONCLUSION</a:t>
          </a:r>
        </a:p>
      </dgm:t>
    </dgm:pt>
    <dgm:pt modelId="{0C5FB344-E7D6-42CC-92F0-0EC79D01E2BF}" type="parTrans" cxnId="{B21A9E73-B973-46EB-BC3E-9988DC2A4050}">
      <dgm:prSet/>
      <dgm:spPr/>
      <dgm:t>
        <a:bodyPr/>
        <a:lstStyle/>
        <a:p>
          <a:endParaRPr lang="fr-CM"/>
        </a:p>
      </dgm:t>
    </dgm:pt>
    <dgm:pt modelId="{AC957B61-6A89-42CD-BFA6-A2C8B6D59143}" type="sibTrans" cxnId="{B21A9E73-B973-46EB-BC3E-9988DC2A4050}">
      <dgm:prSet/>
      <dgm:spPr/>
      <dgm:t>
        <a:bodyPr/>
        <a:lstStyle/>
        <a:p>
          <a:endParaRPr lang="fr-CM"/>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7"/>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7"/>
      <dgm:spPr/>
    </dgm:pt>
    <dgm:pt modelId="{429CABD1-4116-474B-81BF-735E2CA9DD00}" type="pres">
      <dgm:prSet presAssocID="{7E5AA53B-3EEE-4DE4-BB81-9044890C2946}" presName="dstNode" presStyleLbl="node1" presStyleIdx="0" presStyleCnt="7"/>
      <dgm:spPr/>
    </dgm:pt>
    <dgm:pt modelId="{58319267-C71E-43C9-94E1-827D0616C7A7}" type="pres">
      <dgm:prSet presAssocID="{6750AC01-D39D-4F3A-9DC8-2A211EE986A2}" presName="text_1" presStyleLbl="node1" presStyleIdx="0" presStyleCnt="7">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7"/>
      <dgm:spPr/>
    </dgm:pt>
    <dgm:pt modelId="{CAAA9FEA-EE58-482B-A763-6C8A6305A625}" type="pres">
      <dgm:prSet presAssocID="{D9494BC1-DD0D-4127-9E56-2D68E209929A}" presName="text_2" presStyleLbl="node1" presStyleIdx="1" presStyleCnt="7">
        <dgm:presLayoutVars>
          <dgm:bulletEnabled val="1"/>
        </dgm:presLayoutVars>
      </dgm:prSet>
      <dgm:spPr/>
    </dgm:pt>
    <dgm:pt modelId="{D8110181-C07E-46CA-8B08-B9A0F325950D}" type="pres">
      <dgm:prSet presAssocID="{D9494BC1-DD0D-4127-9E56-2D68E209929A}" presName="accent_2" presStyleCnt="0"/>
      <dgm:spPr/>
    </dgm:pt>
    <dgm:pt modelId="{1BDB69D5-A6B4-4CA0-A68E-0D84F47DDD47}" type="pres">
      <dgm:prSet presAssocID="{D9494BC1-DD0D-4127-9E56-2D68E209929A}" presName="accentRepeatNode" presStyleLbl="solidFgAcc1" presStyleIdx="1" presStyleCnt="7"/>
      <dgm:spPr/>
    </dgm:pt>
    <dgm:pt modelId="{14795031-5DEA-4A65-BBB1-134B77FCF9C5}" type="pres">
      <dgm:prSet presAssocID="{DD807F26-DA67-4A8F-A39E-2017A99E4FAA}" presName="text_3" presStyleLbl="node1" presStyleIdx="2" presStyleCnt="7">
        <dgm:presLayoutVars>
          <dgm:bulletEnabled val="1"/>
        </dgm:presLayoutVars>
      </dgm:prSet>
      <dgm:spPr/>
    </dgm:pt>
    <dgm:pt modelId="{AABB4D53-3697-4AFB-833D-8D6DE8F5A6AC}" type="pres">
      <dgm:prSet presAssocID="{DD807F26-DA67-4A8F-A39E-2017A99E4FAA}" presName="accent_3" presStyleCnt="0"/>
      <dgm:spPr/>
    </dgm:pt>
    <dgm:pt modelId="{40135E7D-A08F-4EE0-8AD9-FD92B38F80D5}" type="pres">
      <dgm:prSet presAssocID="{DD807F26-DA67-4A8F-A39E-2017A99E4FAA}" presName="accentRepeatNode" presStyleLbl="solidFgAcc1" presStyleIdx="2" presStyleCnt="7"/>
      <dgm:spPr/>
    </dgm:pt>
    <dgm:pt modelId="{5D059AD8-E806-4941-8502-DD708C6E7700}" type="pres">
      <dgm:prSet presAssocID="{820625FA-492B-4963-971B-04492CECD35D}" presName="text_4" presStyleLbl="node1" presStyleIdx="3" presStyleCnt="7">
        <dgm:presLayoutVars>
          <dgm:bulletEnabled val="1"/>
        </dgm:presLayoutVars>
      </dgm:prSet>
      <dgm:spPr/>
    </dgm:pt>
    <dgm:pt modelId="{4E27E1C8-5999-489D-B02F-B73C8C085E89}" type="pres">
      <dgm:prSet presAssocID="{820625FA-492B-4963-971B-04492CECD35D}" presName="accent_4" presStyleCnt="0"/>
      <dgm:spPr/>
    </dgm:pt>
    <dgm:pt modelId="{B73B2C8F-186F-44EE-9019-C8F13EFE4722}" type="pres">
      <dgm:prSet presAssocID="{820625FA-492B-4963-971B-04492CECD35D}" presName="accentRepeatNode" presStyleLbl="solidFgAcc1" presStyleIdx="3" presStyleCnt="7"/>
      <dgm:spPr/>
    </dgm:pt>
    <dgm:pt modelId="{33F9A340-8F13-4505-94E4-D69B7D0948BD}" type="pres">
      <dgm:prSet presAssocID="{0BEF68B8-1228-47BB-83B5-7B9CD1E3F84E}" presName="text_5" presStyleLbl="node1" presStyleIdx="4" presStyleCnt="7">
        <dgm:presLayoutVars>
          <dgm:bulletEnabled val="1"/>
        </dgm:presLayoutVars>
      </dgm:prSet>
      <dgm:spPr/>
    </dgm:pt>
    <dgm:pt modelId="{8E793166-724F-4210-AB54-DA033AA989BA}" type="pres">
      <dgm:prSet presAssocID="{0BEF68B8-1228-47BB-83B5-7B9CD1E3F84E}" presName="accent_5" presStyleCnt="0"/>
      <dgm:spPr/>
    </dgm:pt>
    <dgm:pt modelId="{3F8116AC-FAC3-4E95-9865-93CCFEB191B9}" type="pres">
      <dgm:prSet presAssocID="{0BEF68B8-1228-47BB-83B5-7B9CD1E3F84E}" presName="accentRepeatNode" presStyleLbl="solidFgAcc1" presStyleIdx="4" presStyleCnt="7"/>
      <dgm:spPr/>
    </dgm:pt>
    <dgm:pt modelId="{8B63DA1B-960B-4CDA-AC5C-70E6E4028517}" type="pres">
      <dgm:prSet presAssocID="{5605D28D-2CE6-4513-8566-952984E21E14}" presName="text_6" presStyleLbl="node1" presStyleIdx="5" presStyleCnt="7">
        <dgm:presLayoutVars>
          <dgm:bulletEnabled val="1"/>
        </dgm:presLayoutVars>
      </dgm:prSet>
      <dgm:spPr/>
    </dgm:pt>
    <dgm:pt modelId="{77897112-35E7-44DE-BE50-D8E822307810}" type="pres">
      <dgm:prSet presAssocID="{5605D28D-2CE6-4513-8566-952984E21E14}" presName="accent_6" presStyleCnt="0"/>
      <dgm:spPr/>
    </dgm:pt>
    <dgm:pt modelId="{A965097E-32F1-4AB8-8C4E-2814A7596B2F}" type="pres">
      <dgm:prSet presAssocID="{5605D28D-2CE6-4513-8566-952984E21E14}" presName="accentRepeatNode" presStyleLbl="solidFgAcc1" presStyleIdx="5" presStyleCnt="7"/>
      <dgm:spPr/>
    </dgm:pt>
    <dgm:pt modelId="{3CCC210D-79CA-493D-8016-F6D5B19A6970}" type="pres">
      <dgm:prSet presAssocID="{ADA3B7DE-48F2-4919-967D-D0B3FE75CAF0}" presName="text_7" presStyleLbl="node1" presStyleIdx="6" presStyleCnt="7">
        <dgm:presLayoutVars>
          <dgm:bulletEnabled val="1"/>
        </dgm:presLayoutVars>
      </dgm:prSet>
      <dgm:spPr/>
    </dgm:pt>
    <dgm:pt modelId="{70C95DFD-131F-4E71-B6D2-8604337AC9B9}" type="pres">
      <dgm:prSet presAssocID="{ADA3B7DE-48F2-4919-967D-D0B3FE75CAF0}" presName="accent_7" presStyleCnt="0"/>
      <dgm:spPr/>
    </dgm:pt>
    <dgm:pt modelId="{D1010D0F-6CB0-4B7A-AA40-3C904AB69048}" type="pres">
      <dgm:prSet presAssocID="{ADA3B7DE-48F2-4919-967D-D0B3FE75CAF0}" presName="accentRepeatNode" presStyleLbl="solidFgAcc1" presStyleIdx="6" presStyleCnt="7"/>
      <dgm:spPr/>
    </dgm:pt>
  </dgm:ptLst>
  <dgm:cxnLst>
    <dgm:cxn modelId="{A11E3B12-1828-45A7-86C3-BB85832DF84D}" type="presOf" srcId="{CA077D98-8478-47EA-B6A9-99ACE60C64D4}" destId="{D79B43FC-100B-4A0D-A4D5-0D2D04B99064}" srcOrd="0" destOrd="0" presId="urn:microsoft.com/office/officeart/2008/layout/VerticalCurvedList"/>
    <dgm:cxn modelId="{E61D2433-12E1-4579-937E-975AC1007AFF}" type="presOf" srcId="{820625FA-492B-4963-971B-04492CECD35D}" destId="{5D059AD8-E806-4941-8502-DD708C6E7700}"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017DC56A-77B1-42E9-9787-8E648AAA4A59}" type="presOf" srcId="{0BEF68B8-1228-47BB-83B5-7B9CD1E3F84E}" destId="{33F9A340-8F13-4505-94E4-D69B7D0948BD}" srcOrd="0" destOrd="0" presId="urn:microsoft.com/office/officeart/2008/layout/VerticalCurvedList"/>
    <dgm:cxn modelId="{29DA474E-5DFA-4C66-882F-319C49ABBB19}" type="presOf" srcId="{6750AC01-D39D-4F3A-9DC8-2A211EE986A2}" destId="{58319267-C71E-43C9-94E1-827D0616C7A7}" srcOrd="0" destOrd="0" presId="urn:microsoft.com/office/officeart/2008/layout/VerticalCurvedList"/>
    <dgm:cxn modelId="{07311253-4B87-4B19-BBDA-8EB29C5AA4EF}" type="presOf" srcId="{DD807F26-DA67-4A8F-A39E-2017A99E4FAA}" destId="{14795031-5DEA-4A65-BBB1-134B77FCF9C5}" srcOrd="0" destOrd="0" presId="urn:microsoft.com/office/officeart/2008/layout/VerticalCurvedList"/>
    <dgm:cxn modelId="{B21A9E73-B973-46EB-BC3E-9988DC2A4050}" srcId="{7E5AA53B-3EEE-4DE4-BB81-9044890C2946}" destId="{ADA3B7DE-48F2-4919-967D-D0B3FE75CAF0}" srcOrd="6" destOrd="0" parTransId="{0C5FB344-E7D6-42CC-92F0-0EC79D01E2BF}" sibTransId="{AC957B61-6A89-42CD-BFA6-A2C8B6D59143}"/>
    <dgm:cxn modelId="{84A8AD7B-5FA6-4232-B65A-D54EE7A9FCF9}" type="presOf" srcId="{5605D28D-2CE6-4513-8566-952984E21E14}" destId="{8B63DA1B-960B-4CDA-AC5C-70E6E4028517}" srcOrd="0" destOrd="0" presId="urn:microsoft.com/office/officeart/2008/layout/VerticalCurvedList"/>
    <dgm:cxn modelId="{EDEF4F82-1237-4639-A0F7-385C1897CE66}" srcId="{7E5AA53B-3EEE-4DE4-BB81-9044890C2946}" destId="{0BEF68B8-1228-47BB-83B5-7B9CD1E3F84E}" srcOrd="4" destOrd="0" parTransId="{ED3A4BC2-B75A-4952-A38B-A42B5995DF05}" sibTransId="{FD949706-EDCC-4ADC-8EDF-8EDA49C92325}"/>
    <dgm:cxn modelId="{FAF3F884-F0CF-440F-8CB1-B7648AB1B138}" srcId="{7E5AA53B-3EEE-4DE4-BB81-9044890C2946}" destId="{5605D28D-2CE6-4513-8566-952984E21E14}" srcOrd="5"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B327790-9826-4EE4-A38D-99818B7F2234}" srcId="{7E5AA53B-3EEE-4DE4-BB81-9044890C2946}" destId="{DD807F26-DA67-4A8F-A39E-2017A99E4FAA}" srcOrd="2" destOrd="0" parTransId="{F50A5180-830C-4BB6-8E65-73FB5D30CE80}" sibTransId="{2D7C638C-D555-40A6-805A-C7C554B3D953}"/>
    <dgm:cxn modelId="{A8C85C91-54AB-484A-A48D-AF854A15BF4D}" type="presOf" srcId="{D9494BC1-DD0D-4127-9E56-2D68E209929A}" destId="{CAAA9FEA-EE58-482B-A763-6C8A6305A625}" srcOrd="0" destOrd="0" presId="urn:microsoft.com/office/officeart/2008/layout/VerticalCurvedList"/>
    <dgm:cxn modelId="{E5F23393-1E82-47BB-9FCA-89C6482D31F0}" srcId="{7E5AA53B-3EEE-4DE4-BB81-9044890C2946}" destId="{D9494BC1-DD0D-4127-9E56-2D68E209929A}" srcOrd="1" destOrd="0" parTransId="{08547BDF-D405-47CB-98E0-A209DD409378}" sibTransId="{99A04EB4-2FDD-4B3B-B827-7F14DDBFACD6}"/>
    <dgm:cxn modelId="{75A541A0-47FC-4D6E-9177-D99E47D8688A}" srcId="{7E5AA53B-3EEE-4DE4-BB81-9044890C2946}" destId="{820625FA-492B-4963-971B-04492CECD35D}" srcOrd="3" destOrd="0" parTransId="{218B6287-74D3-4E23-B615-930F12683D57}" sibTransId="{B454A691-92B7-40A4-8521-89007FEEDE8A}"/>
    <dgm:cxn modelId="{406A18E0-EED8-40AB-B91A-B5F973F28039}" type="presOf" srcId="{ADA3B7DE-48F2-4919-967D-D0B3FE75CAF0}" destId="{3CCC210D-79CA-493D-8016-F6D5B19A697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1E701FB3-D401-4212-896F-CF66B8A9E016}" type="presParOf" srcId="{90561C55-3C6E-4D53-85E1-2C50BCDDA392}" destId="{CAAA9FEA-EE58-482B-A763-6C8A6305A625}" srcOrd="3" destOrd="0" presId="urn:microsoft.com/office/officeart/2008/layout/VerticalCurvedList"/>
    <dgm:cxn modelId="{D6FEF9B3-BCC1-4873-ADAB-C9FA19427BF9}" type="presParOf" srcId="{90561C55-3C6E-4D53-85E1-2C50BCDDA392}" destId="{D8110181-C07E-46CA-8B08-B9A0F325950D}" srcOrd="4" destOrd="0" presId="urn:microsoft.com/office/officeart/2008/layout/VerticalCurvedList"/>
    <dgm:cxn modelId="{C6F37EFB-4A49-4B3F-98D8-7512A728EEC4}" type="presParOf" srcId="{D8110181-C07E-46CA-8B08-B9A0F325950D}" destId="{1BDB69D5-A6B4-4CA0-A68E-0D84F47DDD47}" srcOrd="0" destOrd="0" presId="urn:microsoft.com/office/officeart/2008/layout/VerticalCurvedList"/>
    <dgm:cxn modelId="{2AACAEB6-AD98-47B1-9C07-69A0135981AA}" type="presParOf" srcId="{90561C55-3C6E-4D53-85E1-2C50BCDDA392}" destId="{14795031-5DEA-4A65-BBB1-134B77FCF9C5}" srcOrd="5" destOrd="0" presId="urn:microsoft.com/office/officeart/2008/layout/VerticalCurvedList"/>
    <dgm:cxn modelId="{1D4F65F8-6AFF-4B4C-9AE4-E26E7FF86F2F}" type="presParOf" srcId="{90561C55-3C6E-4D53-85E1-2C50BCDDA392}" destId="{AABB4D53-3697-4AFB-833D-8D6DE8F5A6AC}" srcOrd="6" destOrd="0" presId="urn:microsoft.com/office/officeart/2008/layout/VerticalCurvedList"/>
    <dgm:cxn modelId="{3D56CDCB-CD12-44E2-9F43-0FDD393570CF}" type="presParOf" srcId="{AABB4D53-3697-4AFB-833D-8D6DE8F5A6AC}" destId="{40135E7D-A08F-4EE0-8AD9-FD92B38F80D5}" srcOrd="0" destOrd="0" presId="urn:microsoft.com/office/officeart/2008/layout/VerticalCurvedList"/>
    <dgm:cxn modelId="{CD247975-EF42-441B-8EB7-01F7CE668A5A}" type="presParOf" srcId="{90561C55-3C6E-4D53-85E1-2C50BCDDA392}" destId="{5D059AD8-E806-4941-8502-DD708C6E7700}" srcOrd="7" destOrd="0" presId="urn:microsoft.com/office/officeart/2008/layout/VerticalCurvedList"/>
    <dgm:cxn modelId="{96A4EE7E-E5CE-483A-BA15-4526044CFFD7}" type="presParOf" srcId="{90561C55-3C6E-4D53-85E1-2C50BCDDA392}" destId="{4E27E1C8-5999-489D-B02F-B73C8C085E89}" srcOrd="8" destOrd="0" presId="urn:microsoft.com/office/officeart/2008/layout/VerticalCurvedList"/>
    <dgm:cxn modelId="{3DD74081-F8F6-4162-9C59-E0A345151E1A}" type="presParOf" srcId="{4E27E1C8-5999-489D-B02F-B73C8C085E89}" destId="{B73B2C8F-186F-44EE-9019-C8F13EFE4722}" srcOrd="0" destOrd="0" presId="urn:microsoft.com/office/officeart/2008/layout/VerticalCurvedList"/>
    <dgm:cxn modelId="{C48497A3-440E-44E0-918F-F66221C8DAC5}" type="presParOf" srcId="{90561C55-3C6E-4D53-85E1-2C50BCDDA392}" destId="{33F9A340-8F13-4505-94E4-D69B7D0948BD}" srcOrd="9" destOrd="0" presId="urn:microsoft.com/office/officeart/2008/layout/VerticalCurvedList"/>
    <dgm:cxn modelId="{0B7BA077-7A62-40B5-A04F-542A81372955}" type="presParOf" srcId="{90561C55-3C6E-4D53-85E1-2C50BCDDA392}" destId="{8E793166-724F-4210-AB54-DA033AA989BA}" srcOrd="10" destOrd="0" presId="urn:microsoft.com/office/officeart/2008/layout/VerticalCurvedList"/>
    <dgm:cxn modelId="{DD95CC1F-A347-4281-8690-40AF3AFEE13C}" type="presParOf" srcId="{8E793166-724F-4210-AB54-DA033AA989BA}" destId="{3F8116AC-FAC3-4E95-9865-93CCFEB191B9}" srcOrd="0" destOrd="0" presId="urn:microsoft.com/office/officeart/2008/layout/VerticalCurvedList"/>
    <dgm:cxn modelId="{43BC059C-2267-44C9-AA4E-4E4417B4468F}" type="presParOf" srcId="{90561C55-3C6E-4D53-85E1-2C50BCDDA392}" destId="{8B63DA1B-960B-4CDA-AC5C-70E6E4028517}" srcOrd="11" destOrd="0" presId="urn:microsoft.com/office/officeart/2008/layout/VerticalCurvedList"/>
    <dgm:cxn modelId="{53618C52-0359-4C53-9DA8-C9EEDED71FA1}" type="presParOf" srcId="{90561C55-3C6E-4D53-85E1-2C50BCDDA392}" destId="{77897112-35E7-44DE-BE50-D8E822307810}" srcOrd="12" destOrd="0" presId="urn:microsoft.com/office/officeart/2008/layout/VerticalCurvedList"/>
    <dgm:cxn modelId="{3B5EA761-F7AA-4D60-98A1-0D9C48B224A2}" type="presParOf" srcId="{77897112-35E7-44DE-BE50-D8E822307810}" destId="{A965097E-32F1-4AB8-8C4E-2814A7596B2F}" srcOrd="0" destOrd="0" presId="urn:microsoft.com/office/officeart/2008/layout/VerticalCurvedList"/>
    <dgm:cxn modelId="{746FBD06-305F-49E7-8306-F4E794A8A8F3}" type="presParOf" srcId="{90561C55-3C6E-4D53-85E1-2C50BCDDA392}" destId="{3CCC210D-79CA-493D-8016-F6D5B19A6970}" srcOrd="13" destOrd="0" presId="urn:microsoft.com/office/officeart/2008/layout/VerticalCurvedList"/>
    <dgm:cxn modelId="{DC498C9A-4E85-4D1C-AC5F-A38E900DDF91}" type="presParOf" srcId="{90561C55-3C6E-4D53-85E1-2C50BCDDA392}" destId="{70C95DFD-131F-4E71-B6D2-8604337AC9B9}" srcOrd="14" destOrd="0" presId="urn:microsoft.com/office/officeart/2008/layout/VerticalCurvedList"/>
    <dgm:cxn modelId="{29F8C0C9-702B-4E33-98D3-068D75D6EF2D}" type="presParOf" srcId="{70C95DFD-131F-4E71-B6D2-8604337AC9B9}" destId="{D1010D0F-6CB0-4B7A-AA40-3C904AB6904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dgm:spPr/>
      <dgm:t>
        <a:bodyPr rtlCol="0"/>
        <a:lstStyle/>
        <a:p>
          <a:pPr rtl="0">
            <a:lnSpc>
              <a:spcPct val="100000"/>
            </a:lnSpc>
          </a:pPr>
          <a:r>
            <a:rPr lang="fr-FR" b="1" noProof="0" dirty="0">
              <a:solidFill>
                <a:schemeClr val="bg1"/>
              </a:solidFill>
            </a:rPr>
            <a:t>1- INTRODUCTION</a:t>
          </a:r>
          <a:r>
            <a:rPr lang="fr-FR" noProof="0" dirty="0">
              <a:solidFill>
                <a:schemeClr val="accent3">
                  <a:lumMod val="40000"/>
                  <a:lumOff val="60000"/>
                </a:schemeClr>
              </a:solidFill>
            </a:rPr>
            <a:t>	</a:t>
          </a:r>
        </a:p>
      </dgm:t>
    </dgm:pt>
    <dgm:pt modelId="{720680DC-AAA4-4434-A582-60EBCC5BA355}" type="parTrans" cxnId="{0B5DAE5F-BCDC-4BF7-A6E7-CF856886A64D}">
      <dgm:prSet/>
      <dgm:spPr/>
      <dgm:t>
        <a:bodyPr rtlCol="0"/>
        <a:lstStyle/>
        <a:p>
          <a:pPr rtl="0"/>
          <a:endParaRPr lang="fr-FR" noProof="0" dirty="0"/>
        </a:p>
      </dgm:t>
    </dgm:pt>
    <dgm:pt modelId="{CA077D98-8478-47EA-B6A9-99ACE60C64D4}" type="sibTrans" cxnId="{0B5DAE5F-BCDC-4BF7-A6E7-CF856886A64D}">
      <dgm:prSet/>
      <dgm:spPr/>
      <dgm:t>
        <a:bodyPr rtlCol="0"/>
        <a:lstStyle/>
        <a:p>
          <a:pPr rtl="0"/>
          <a:endParaRPr lang="fr-FR"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1"/>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1"/>
      <dgm:spPr/>
    </dgm:pt>
    <dgm:pt modelId="{429CABD1-4116-474B-81BF-735E2CA9DD00}" type="pres">
      <dgm:prSet presAssocID="{7E5AA53B-3EEE-4DE4-BB81-9044890C2946}" presName="dstNode" presStyleLbl="node1" presStyleIdx="0" presStyleCnt="1"/>
      <dgm:spPr/>
    </dgm:pt>
    <dgm:pt modelId="{58319267-C71E-43C9-94E1-827D0616C7A7}" type="pres">
      <dgm:prSet presAssocID="{6750AC01-D39D-4F3A-9DC8-2A211EE986A2}" presName="text_1" presStyleLbl="node1" presStyleIdx="0" presStyleCnt="1" custScaleY="51840">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1" custScaleX="68314" custScaleY="69957">
        <dgm:style>
          <a:lnRef idx="1">
            <a:schemeClr val="accent3"/>
          </a:lnRef>
          <a:fillRef idx="2">
            <a:schemeClr val="accent3"/>
          </a:fillRef>
          <a:effectRef idx="1">
            <a:schemeClr val="accent3"/>
          </a:effectRef>
          <a:fontRef idx="minor">
            <a:schemeClr val="dk1"/>
          </a:fontRef>
        </dgm:style>
      </dgm:prSet>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custT="1"/>
      <dgm:spPr/>
      <dgm:t>
        <a:bodyPr rtlCol="0"/>
        <a:lstStyle/>
        <a:p>
          <a:pPr rtl="0">
            <a:lnSpc>
              <a:spcPct val="100000"/>
            </a:lnSpc>
          </a:pPr>
          <a:r>
            <a:rPr lang="fr-FR" sz="2800" b="1" noProof="0" dirty="0">
              <a:solidFill>
                <a:schemeClr val="bg1"/>
              </a:solidFill>
            </a:rPr>
            <a:t>2- PRESENTATION DE L’ENTREPRISE</a:t>
          </a:r>
          <a:endParaRPr lang="fr-FR" sz="2800" b="1" noProof="0" dirty="0">
            <a:solidFill>
              <a:schemeClr val="accent3">
                <a:lumMod val="40000"/>
                <a:lumOff val="60000"/>
              </a:schemeClr>
            </a:solidFill>
          </a:endParaRPr>
        </a:p>
      </dgm:t>
    </dgm:pt>
    <dgm:pt modelId="{720680DC-AAA4-4434-A582-60EBCC5BA355}" type="parTrans" cxnId="{0B5DAE5F-BCDC-4BF7-A6E7-CF856886A64D}">
      <dgm:prSet/>
      <dgm:spPr/>
      <dgm:t>
        <a:bodyPr rtlCol="0"/>
        <a:lstStyle/>
        <a:p>
          <a:pPr rtl="0"/>
          <a:endParaRPr lang="fr-FR" noProof="0" dirty="0"/>
        </a:p>
      </dgm:t>
    </dgm:pt>
    <dgm:pt modelId="{CA077D98-8478-47EA-B6A9-99ACE60C64D4}" type="sibTrans" cxnId="{0B5DAE5F-BCDC-4BF7-A6E7-CF856886A64D}">
      <dgm:prSet/>
      <dgm:spPr/>
      <dgm:t>
        <a:bodyPr rtlCol="0"/>
        <a:lstStyle/>
        <a:p>
          <a:pPr rtl="0"/>
          <a:endParaRPr lang="fr-FR"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1"/>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1"/>
      <dgm:spPr/>
    </dgm:pt>
    <dgm:pt modelId="{429CABD1-4116-474B-81BF-735E2CA9DD00}" type="pres">
      <dgm:prSet presAssocID="{7E5AA53B-3EEE-4DE4-BB81-9044890C2946}" presName="dstNode" presStyleLbl="node1" presStyleIdx="0" presStyleCnt="1"/>
      <dgm:spPr/>
    </dgm:pt>
    <dgm:pt modelId="{58319267-C71E-43C9-94E1-827D0616C7A7}" type="pres">
      <dgm:prSet presAssocID="{6750AC01-D39D-4F3A-9DC8-2A211EE986A2}" presName="text_1" presStyleLbl="node1" presStyleIdx="0" presStyleCnt="1" custScaleX="116117" custScaleY="61715">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1" custScaleX="68314" custScaleY="69957">
        <dgm:style>
          <a:lnRef idx="1">
            <a:schemeClr val="accent3"/>
          </a:lnRef>
          <a:fillRef idx="2">
            <a:schemeClr val="accent3"/>
          </a:fillRef>
          <a:effectRef idx="1">
            <a:schemeClr val="accent3"/>
          </a:effectRef>
          <a:fontRef idx="minor">
            <a:schemeClr val="dk1"/>
          </a:fontRef>
        </dgm:style>
      </dgm:prSet>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custT="1"/>
      <dgm:spPr/>
      <dgm:t>
        <a:bodyPr rtlCol="0"/>
        <a:lstStyle/>
        <a:p>
          <a:pPr rtl="0">
            <a:lnSpc>
              <a:spcPct val="100000"/>
            </a:lnSpc>
          </a:pPr>
          <a:r>
            <a:rPr lang="fr-FR" sz="2800" b="1" noProof="0" dirty="0">
              <a:solidFill>
                <a:schemeClr val="bg1"/>
              </a:solidFill>
            </a:rPr>
            <a:t>3- IDENTIFICATION DES PROBLEMES</a:t>
          </a:r>
          <a:endParaRPr lang="fr-FR" sz="2800" b="1" noProof="0" dirty="0">
            <a:solidFill>
              <a:schemeClr val="accent3">
                <a:lumMod val="40000"/>
                <a:lumOff val="60000"/>
              </a:schemeClr>
            </a:solidFill>
          </a:endParaRPr>
        </a:p>
      </dgm:t>
    </dgm:pt>
    <dgm:pt modelId="{720680DC-AAA4-4434-A582-60EBCC5BA355}" type="parTrans" cxnId="{0B5DAE5F-BCDC-4BF7-A6E7-CF856886A64D}">
      <dgm:prSet/>
      <dgm:spPr/>
      <dgm:t>
        <a:bodyPr rtlCol="0"/>
        <a:lstStyle/>
        <a:p>
          <a:pPr rtl="0"/>
          <a:endParaRPr lang="fr-FR" noProof="0" dirty="0"/>
        </a:p>
      </dgm:t>
    </dgm:pt>
    <dgm:pt modelId="{CA077D98-8478-47EA-B6A9-99ACE60C64D4}" type="sibTrans" cxnId="{0B5DAE5F-BCDC-4BF7-A6E7-CF856886A64D}">
      <dgm:prSet/>
      <dgm:spPr/>
      <dgm:t>
        <a:bodyPr rtlCol="0"/>
        <a:lstStyle/>
        <a:p>
          <a:pPr rtl="0"/>
          <a:endParaRPr lang="fr-FR"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1"/>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1"/>
      <dgm:spPr/>
    </dgm:pt>
    <dgm:pt modelId="{429CABD1-4116-474B-81BF-735E2CA9DD00}" type="pres">
      <dgm:prSet presAssocID="{7E5AA53B-3EEE-4DE4-BB81-9044890C2946}" presName="dstNode" presStyleLbl="node1" presStyleIdx="0" presStyleCnt="1"/>
      <dgm:spPr/>
    </dgm:pt>
    <dgm:pt modelId="{58319267-C71E-43C9-94E1-827D0616C7A7}" type="pres">
      <dgm:prSet presAssocID="{6750AC01-D39D-4F3A-9DC8-2A211EE986A2}" presName="text_1" presStyleLbl="node1" presStyleIdx="0" presStyleCnt="1" custScaleX="116117" custScaleY="51840">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1" custScaleX="68314" custScaleY="69957">
        <dgm:style>
          <a:lnRef idx="1">
            <a:schemeClr val="accent3"/>
          </a:lnRef>
          <a:fillRef idx="2">
            <a:schemeClr val="accent3"/>
          </a:fillRef>
          <a:effectRef idx="1">
            <a:schemeClr val="accent3"/>
          </a:effectRef>
          <a:fontRef idx="minor">
            <a:schemeClr val="dk1"/>
          </a:fontRef>
        </dgm:style>
      </dgm:prSet>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custT="1"/>
      <dgm:spPr/>
      <dgm:t>
        <a:bodyPr rtlCol="0"/>
        <a:lstStyle/>
        <a:p>
          <a:pPr rtl="0">
            <a:lnSpc>
              <a:spcPct val="100000"/>
            </a:lnSpc>
          </a:pPr>
          <a:r>
            <a:rPr lang="fr-FR" sz="2800" b="1" noProof="0" dirty="0">
              <a:solidFill>
                <a:schemeClr val="bg1"/>
              </a:solidFill>
            </a:rPr>
            <a:t>4- CONCEPTION</a:t>
          </a:r>
          <a:r>
            <a:rPr lang="fr-FR" sz="2800" b="1" baseline="0" noProof="0" dirty="0">
              <a:solidFill>
                <a:schemeClr val="bg1"/>
              </a:solidFill>
            </a:rPr>
            <a:t> DE LA SOLUTION</a:t>
          </a:r>
          <a:endParaRPr lang="fr-FR" sz="2800" b="1" noProof="0" dirty="0">
            <a:solidFill>
              <a:schemeClr val="bg1"/>
            </a:solidFill>
          </a:endParaRPr>
        </a:p>
      </dgm:t>
    </dgm:pt>
    <dgm:pt modelId="{720680DC-AAA4-4434-A582-60EBCC5BA355}" type="parTrans" cxnId="{0B5DAE5F-BCDC-4BF7-A6E7-CF856886A64D}">
      <dgm:prSet/>
      <dgm:spPr/>
      <dgm:t>
        <a:bodyPr rtlCol="0"/>
        <a:lstStyle/>
        <a:p>
          <a:pPr rtl="0"/>
          <a:endParaRPr lang="fr-FR" noProof="0" dirty="0"/>
        </a:p>
      </dgm:t>
    </dgm:pt>
    <dgm:pt modelId="{CA077D98-8478-47EA-B6A9-99ACE60C64D4}" type="sibTrans" cxnId="{0B5DAE5F-BCDC-4BF7-A6E7-CF856886A64D}">
      <dgm:prSet/>
      <dgm:spPr/>
      <dgm:t>
        <a:bodyPr rtlCol="0"/>
        <a:lstStyle/>
        <a:p>
          <a:pPr rtl="0"/>
          <a:endParaRPr lang="fr-FR"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1"/>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1"/>
      <dgm:spPr/>
    </dgm:pt>
    <dgm:pt modelId="{429CABD1-4116-474B-81BF-735E2CA9DD00}" type="pres">
      <dgm:prSet presAssocID="{7E5AA53B-3EEE-4DE4-BB81-9044890C2946}" presName="dstNode" presStyleLbl="node1" presStyleIdx="0" presStyleCnt="1"/>
      <dgm:spPr/>
    </dgm:pt>
    <dgm:pt modelId="{58319267-C71E-43C9-94E1-827D0616C7A7}" type="pres">
      <dgm:prSet presAssocID="{6750AC01-D39D-4F3A-9DC8-2A211EE986A2}" presName="text_1" presStyleLbl="node1" presStyleIdx="0" presStyleCnt="1" custScaleX="116117" custScaleY="51840">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1" custScaleX="68314" custScaleY="69957">
        <dgm:style>
          <a:lnRef idx="1">
            <a:schemeClr val="accent3"/>
          </a:lnRef>
          <a:fillRef idx="2">
            <a:schemeClr val="accent3"/>
          </a:fillRef>
          <a:effectRef idx="1">
            <a:schemeClr val="accent3"/>
          </a:effectRef>
          <a:fontRef idx="minor">
            <a:schemeClr val="dk1"/>
          </a:fontRef>
        </dgm:style>
      </dgm:prSet>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custT="1"/>
      <dgm:spPr/>
      <dgm:t>
        <a:bodyPr rtlCol="0"/>
        <a:lstStyle/>
        <a:p>
          <a:pPr rtl="0">
            <a:lnSpc>
              <a:spcPct val="100000"/>
            </a:lnSpc>
          </a:pPr>
          <a:r>
            <a:rPr lang="fr-FR" sz="2800" b="1" noProof="0" dirty="0">
              <a:solidFill>
                <a:schemeClr val="bg1"/>
              </a:solidFill>
            </a:rPr>
            <a:t>5-VALIDATION DE LA SOLUTION</a:t>
          </a:r>
        </a:p>
      </dgm:t>
    </dgm:pt>
    <dgm:pt modelId="{720680DC-AAA4-4434-A582-60EBCC5BA355}" type="parTrans" cxnId="{0B5DAE5F-BCDC-4BF7-A6E7-CF856886A64D}">
      <dgm:prSet/>
      <dgm:spPr/>
      <dgm:t>
        <a:bodyPr rtlCol="0"/>
        <a:lstStyle/>
        <a:p>
          <a:pPr rtl="0"/>
          <a:endParaRPr lang="fr-FR" noProof="0" dirty="0"/>
        </a:p>
      </dgm:t>
    </dgm:pt>
    <dgm:pt modelId="{CA077D98-8478-47EA-B6A9-99ACE60C64D4}" type="sibTrans" cxnId="{0B5DAE5F-BCDC-4BF7-A6E7-CF856886A64D}">
      <dgm:prSet/>
      <dgm:spPr/>
      <dgm:t>
        <a:bodyPr rtlCol="0"/>
        <a:lstStyle/>
        <a:p>
          <a:pPr rtl="0"/>
          <a:endParaRPr lang="fr-FR"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1"/>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1"/>
      <dgm:spPr/>
    </dgm:pt>
    <dgm:pt modelId="{429CABD1-4116-474B-81BF-735E2CA9DD00}" type="pres">
      <dgm:prSet presAssocID="{7E5AA53B-3EEE-4DE4-BB81-9044890C2946}" presName="dstNode" presStyleLbl="node1" presStyleIdx="0" presStyleCnt="1"/>
      <dgm:spPr/>
    </dgm:pt>
    <dgm:pt modelId="{58319267-C71E-43C9-94E1-827D0616C7A7}" type="pres">
      <dgm:prSet presAssocID="{6750AC01-D39D-4F3A-9DC8-2A211EE986A2}" presName="text_1" presStyleLbl="node1" presStyleIdx="0" presStyleCnt="1" custScaleX="116117" custScaleY="51840">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1" custScaleX="68314" custScaleY="69957">
        <dgm:style>
          <a:lnRef idx="1">
            <a:schemeClr val="accent3"/>
          </a:lnRef>
          <a:fillRef idx="2">
            <a:schemeClr val="accent3"/>
          </a:fillRef>
          <a:effectRef idx="1">
            <a:schemeClr val="accent3"/>
          </a:effectRef>
          <a:fontRef idx="minor">
            <a:schemeClr val="dk1"/>
          </a:fontRef>
        </dgm:style>
      </dgm:prSet>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custT="1"/>
      <dgm:spPr/>
      <dgm:t>
        <a:bodyPr rtlCol="0"/>
        <a:lstStyle/>
        <a:p>
          <a:pPr rtl="0">
            <a:lnSpc>
              <a:spcPct val="100000"/>
            </a:lnSpc>
          </a:pPr>
          <a:r>
            <a:rPr lang="fr-FR" sz="2800" b="1" noProof="0" dirty="0">
              <a:solidFill>
                <a:schemeClr val="bg1"/>
              </a:solidFill>
            </a:rPr>
            <a:t>6-LIMITES ET PERSPECTIVES</a:t>
          </a:r>
        </a:p>
      </dgm:t>
    </dgm:pt>
    <dgm:pt modelId="{720680DC-AAA4-4434-A582-60EBCC5BA355}" type="parTrans" cxnId="{0B5DAE5F-BCDC-4BF7-A6E7-CF856886A64D}">
      <dgm:prSet/>
      <dgm:spPr/>
      <dgm:t>
        <a:bodyPr rtlCol="0"/>
        <a:lstStyle/>
        <a:p>
          <a:pPr rtl="0"/>
          <a:endParaRPr lang="fr-FR" noProof="0" dirty="0"/>
        </a:p>
      </dgm:t>
    </dgm:pt>
    <dgm:pt modelId="{CA077D98-8478-47EA-B6A9-99ACE60C64D4}" type="sibTrans" cxnId="{0B5DAE5F-BCDC-4BF7-A6E7-CF856886A64D}">
      <dgm:prSet/>
      <dgm:spPr/>
      <dgm:t>
        <a:bodyPr rtlCol="0"/>
        <a:lstStyle/>
        <a:p>
          <a:pPr rtl="0"/>
          <a:endParaRPr lang="fr-FR"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1"/>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1"/>
      <dgm:spPr/>
    </dgm:pt>
    <dgm:pt modelId="{429CABD1-4116-474B-81BF-735E2CA9DD00}" type="pres">
      <dgm:prSet presAssocID="{7E5AA53B-3EEE-4DE4-BB81-9044890C2946}" presName="dstNode" presStyleLbl="node1" presStyleIdx="0" presStyleCnt="1"/>
      <dgm:spPr/>
    </dgm:pt>
    <dgm:pt modelId="{58319267-C71E-43C9-94E1-827D0616C7A7}" type="pres">
      <dgm:prSet presAssocID="{6750AC01-D39D-4F3A-9DC8-2A211EE986A2}" presName="text_1" presStyleLbl="node1" presStyleIdx="0" presStyleCnt="1" custScaleX="116117" custScaleY="51840">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1" custScaleX="68314" custScaleY="69957">
        <dgm:style>
          <a:lnRef idx="1">
            <a:schemeClr val="accent3"/>
          </a:lnRef>
          <a:fillRef idx="2">
            <a:schemeClr val="accent3"/>
          </a:fillRef>
          <a:effectRef idx="1">
            <a:schemeClr val="accent3"/>
          </a:effectRef>
          <a:fontRef idx="minor">
            <a:schemeClr val="dk1"/>
          </a:fontRef>
        </dgm:style>
      </dgm:prSet>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custT="1"/>
      <dgm:spPr/>
      <dgm:t>
        <a:bodyPr rtlCol="0"/>
        <a:lstStyle/>
        <a:p>
          <a:pPr rtl="0">
            <a:lnSpc>
              <a:spcPct val="100000"/>
            </a:lnSpc>
          </a:pPr>
          <a:r>
            <a:rPr lang="fr-FR" sz="2800" b="1" noProof="0" dirty="0">
              <a:solidFill>
                <a:schemeClr val="bg1"/>
              </a:solidFill>
            </a:rPr>
            <a:t>7- CONCLUSION</a:t>
          </a:r>
        </a:p>
      </dgm:t>
    </dgm:pt>
    <dgm:pt modelId="{720680DC-AAA4-4434-A582-60EBCC5BA355}" type="parTrans" cxnId="{0B5DAE5F-BCDC-4BF7-A6E7-CF856886A64D}">
      <dgm:prSet/>
      <dgm:spPr/>
      <dgm:t>
        <a:bodyPr rtlCol="0"/>
        <a:lstStyle/>
        <a:p>
          <a:pPr rtl="0"/>
          <a:endParaRPr lang="fr-FR" noProof="0" dirty="0"/>
        </a:p>
      </dgm:t>
    </dgm:pt>
    <dgm:pt modelId="{CA077D98-8478-47EA-B6A9-99ACE60C64D4}" type="sibTrans" cxnId="{0B5DAE5F-BCDC-4BF7-A6E7-CF856886A64D}">
      <dgm:prSet/>
      <dgm:spPr/>
      <dgm:t>
        <a:bodyPr rtlCol="0"/>
        <a:lstStyle/>
        <a:p>
          <a:pPr rtl="0"/>
          <a:endParaRPr lang="fr-FR"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1"/>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1"/>
      <dgm:spPr/>
    </dgm:pt>
    <dgm:pt modelId="{429CABD1-4116-474B-81BF-735E2CA9DD00}" type="pres">
      <dgm:prSet presAssocID="{7E5AA53B-3EEE-4DE4-BB81-9044890C2946}" presName="dstNode" presStyleLbl="node1" presStyleIdx="0" presStyleCnt="1"/>
      <dgm:spPr/>
    </dgm:pt>
    <dgm:pt modelId="{58319267-C71E-43C9-94E1-827D0616C7A7}" type="pres">
      <dgm:prSet presAssocID="{6750AC01-D39D-4F3A-9DC8-2A211EE986A2}" presName="text_1" presStyleLbl="node1" presStyleIdx="0" presStyleCnt="1" custScaleX="116117" custScaleY="51840">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1" custScaleX="68314" custScaleY="69957">
        <dgm:style>
          <a:lnRef idx="1">
            <a:schemeClr val="accent3"/>
          </a:lnRef>
          <a:fillRef idx="2">
            <a:schemeClr val="accent3"/>
          </a:fillRef>
          <a:effectRef idx="1">
            <a:schemeClr val="accent3"/>
          </a:effectRef>
          <a:fontRef idx="minor">
            <a:schemeClr val="dk1"/>
          </a:fontRef>
        </dgm:style>
      </dgm:prSet>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250300" y="162016"/>
          <a:ext cx="6556659"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fr-FR" sz="1600" b="1" kern="1200" noProof="0" dirty="0"/>
            <a:t>1- INTRODUCTION</a:t>
          </a:r>
          <a:r>
            <a:rPr lang="fr-FR" sz="1600" kern="1200" noProof="0" dirty="0"/>
            <a:t>	</a:t>
          </a:r>
        </a:p>
      </dsp:txBody>
      <dsp:txXfrm>
        <a:off x="250300" y="162016"/>
        <a:ext cx="6556659" cy="323890"/>
      </dsp:txXfrm>
    </dsp:sp>
    <dsp:sp modelId="{07CB3071-D555-47DA-A36A-69EB91531FD8}">
      <dsp:nvSpPr>
        <dsp:cNvPr id="0" name=""/>
        <dsp:cNvSpPr/>
      </dsp:nvSpPr>
      <dsp:spPr>
        <a:xfrm>
          <a:off x="47868" y="121530"/>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AAA9FEA-EE58-482B-A763-6C8A6305A625}">
      <dsp:nvSpPr>
        <dsp:cNvPr id="0" name=""/>
        <dsp:cNvSpPr/>
      </dsp:nvSpPr>
      <dsp:spPr>
        <a:xfrm>
          <a:off x="543612" y="648137"/>
          <a:ext cx="6263347"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rtlCol="0" anchor="ctr" anchorCtr="0">
          <a:noAutofit/>
        </a:bodyPr>
        <a:lstStyle/>
        <a:p>
          <a:pPr marL="0" lvl="0" indent="0" algn="l" defTabSz="711200" rtl="0">
            <a:lnSpc>
              <a:spcPct val="90000"/>
            </a:lnSpc>
            <a:spcBef>
              <a:spcPct val="0"/>
            </a:spcBef>
            <a:spcAft>
              <a:spcPct val="35000"/>
            </a:spcAft>
            <a:buNone/>
          </a:pPr>
          <a:r>
            <a:rPr lang="fr-FR" sz="1600" b="1" kern="1200" noProof="0" dirty="0"/>
            <a:t>2- PRESENTATION DE L’ENTREPRISE	</a:t>
          </a:r>
        </a:p>
      </dsp:txBody>
      <dsp:txXfrm>
        <a:off x="543612" y="648137"/>
        <a:ext cx="6263347" cy="323890"/>
      </dsp:txXfrm>
    </dsp:sp>
    <dsp:sp modelId="{1BDB69D5-A6B4-4CA0-A68E-0D84F47DDD47}">
      <dsp:nvSpPr>
        <dsp:cNvPr id="0" name=""/>
        <dsp:cNvSpPr/>
      </dsp:nvSpPr>
      <dsp:spPr>
        <a:xfrm>
          <a:off x="341180" y="607651"/>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4795031-5DEA-4A65-BBB1-134B77FCF9C5}">
      <dsp:nvSpPr>
        <dsp:cNvPr id="0" name=""/>
        <dsp:cNvSpPr/>
      </dsp:nvSpPr>
      <dsp:spPr>
        <a:xfrm>
          <a:off x="704345" y="1133902"/>
          <a:ext cx="6102613"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rtlCol="0" anchor="ctr" anchorCtr="0">
          <a:noAutofit/>
        </a:bodyPr>
        <a:lstStyle/>
        <a:p>
          <a:pPr marL="0" lvl="0" indent="0" algn="l" defTabSz="711200" rtl="0">
            <a:lnSpc>
              <a:spcPct val="90000"/>
            </a:lnSpc>
            <a:spcBef>
              <a:spcPct val="0"/>
            </a:spcBef>
            <a:spcAft>
              <a:spcPct val="35000"/>
            </a:spcAft>
            <a:buNone/>
          </a:pPr>
          <a:r>
            <a:rPr lang="fr-FR" sz="1600" b="1" kern="1200" noProof="0" dirty="0"/>
            <a:t>3- IDENTIFICATION DES PROBLEMES	</a:t>
          </a:r>
        </a:p>
      </dsp:txBody>
      <dsp:txXfrm>
        <a:off x="704345" y="1133902"/>
        <a:ext cx="6102613" cy="323890"/>
      </dsp:txXfrm>
    </dsp:sp>
    <dsp:sp modelId="{40135E7D-A08F-4EE0-8AD9-FD92B38F80D5}">
      <dsp:nvSpPr>
        <dsp:cNvPr id="0" name=""/>
        <dsp:cNvSpPr/>
      </dsp:nvSpPr>
      <dsp:spPr>
        <a:xfrm>
          <a:off x="501914" y="1093416"/>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D059AD8-E806-4941-8502-DD708C6E7700}">
      <dsp:nvSpPr>
        <dsp:cNvPr id="0" name=""/>
        <dsp:cNvSpPr/>
      </dsp:nvSpPr>
      <dsp:spPr>
        <a:xfrm>
          <a:off x="755666" y="1620023"/>
          <a:ext cx="6051292"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rtlCol="0" anchor="ctr" anchorCtr="0">
          <a:noAutofit/>
        </a:bodyPr>
        <a:lstStyle/>
        <a:p>
          <a:pPr marL="0" lvl="0" indent="0" algn="l" defTabSz="711200" rtl="0">
            <a:lnSpc>
              <a:spcPct val="90000"/>
            </a:lnSpc>
            <a:spcBef>
              <a:spcPct val="0"/>
            </a:spcBef>
            <a:spcAft>
              <a:spcPct val="35000"/>
            </a:spcAft>
            <a:buNone/>
          </a:pPr>
          <a:r>
            <a:rPr lang="fr-FR" sz="1600" b="1" kern="1200" noProof="0" dirty="0"/>
            <a:t>4- CONCEPTION DE LA SOLUTION</a:t>
          </a:r>
        </a:p>
      </dsp:txBody>
      <dsp:txXfrm>
        <a:off x="755666" y="1620023"/>
        <a:ext cx="6051292" cy="323890"/>
      </dsp:txXfrm>
    </dsp:sp>
    <dsp:sp modelId="{B73B2C8F-186F-44EE-9019-C8F13EFE4722}">
      <dsp:nvSpPr>
        <dsp:cNvPr id="0" name=""/>
        <dsp:cNvSpPr/>
      </dsp:nvSpPr>
      <dsp:spPr>
        <a:xfrm>
          <a:off x="553234" y="1579537"/>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3F9A340-8F13-4505-94E4-D69B7D0948BD}">
      <dsp:nvSpPr>
        <dsp:cNvPr id="0" name=""/>
        <dsp:cNvSpPr/>
      </dsp:nvSpPr>
      <dsp:spPr>
        <a:xfrm>
          <a:off x="704345" y="2106144"/>
          <a:ext cx="6102613"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fr-FR" sz="1600" b="1" kern="1200" noProof="0" dirty="0"/>
            <a:t>5- VALIDATION DE LA SOLUTION</a:t>
          </a:r>
        </a:p>
      </dsp:txBody>
      <dsp:txXfrm>
        <a:off x="704345" y="2106144"/>
        <a:ext cx="6102613" cy="323890"/>
      </dsp:txXfrm>
    </dsp:sp>
    <dsp:sp modelId="{3F8116AC-FAC3-4E95-9865-93CCFEB191B9}">
      <dsp:nvSpPr>
        <dsp:cNvPr id="0" name=""/>
        <dsp:cNvSpPr/>
      </dsp:nvSpPr>
      <dsp:spPr>
        <a:xfrm>
          <a:off x="501914" y="2065658"/>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B63DA1B-960B-4CDA-AC5C-70E6E4028517}">
      <dsp:nvSpPr>
        <dsp:cNvPr id="0" name=""/>
        <dsp:cNvSpPr/>
      </dsp:nvSpPr>
      <dsp:spPr>
        <a:xfrm>
          <a:off x="543612" y="2591909"/>
          <a:ext cx="6263347"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fr-FR" sz="1600" b="1" kern="1200" noProof="0" dirty="0"/>
            <a:t>6- LIMITES ET PERSPECTIVES</a:t>
          </a:r>
        </a:p>
      </dsp:txBody>
      <dsp:txXfrm>
        <a:off x="543612" y="2591909"/>
        <a:ext cx="6263347" cy="323890"/>
      </dsp:txXfrm>
    </dsp:sp>
    <dsp:sp modelId="{A965097E-32F1-4AB8-8C4E-2814A7596B2F}">
      <dsp:nvSpPr>
        <dsp:cNvPr id="0" name=""/>
        <dsp:cNvSpPr/>
      </dsp:nvSpPr>
      <dsp:spPr>
        <a:xfrm>
          <a:off x="341180" y="2551423"/>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CCC210D-79CA-493D-8016-F6D5B19A6970}">
      <dsp:nvSpPr>
        <dsp:cNvPr id="0" name=""/>
        <dsp:cNvSpPr/>
      </dsp:nvSpPr>
      <dsp:spPr>
        <a:xfrm>
          <a:off x="250300" y="3078030"/>
          <a:ext cx="6556659"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rtlCol="0" anchor="ctr" anchorCtr="0">
          <a:noAutofit/>
        </a:bodyPr>
        <a:lstStyle/>
        <a:p>
          <a:pPr marL="0" lvl="0" indent="0" algn="l" defTabSz="711200" rtl="0">
            <a:lnSpc>
              <a:spcPct val="90000"/>
            </a:lnSpc>
            <a:spcBef>
              <a:spcPct val="0"/>
            </a:spcBef>
            <a:spcAft>
              <a:spcPct val="35000"/>
            </a:spcAft>
            <a:buNone/>
          </a:pPr>
          <a:r>
            <a:rPr lang="fr-FR" sz="1600" b="1" kern="1200" noProof="0" dirty="0"/>
            <a:t>7- CONCLUSION</a:t>
          </a:r>
        </a:p>
      </dsp:txBody>
      <dsp:txXfrm>
        <a:off x="250300" y="3078030"/>
        <a:ext cx="6556659" cy="323890"/>
      </dsp:txXfrm>
    </dsp:sp>
    <dsp:sp modelId="{D1010D0F-6CB0-4B7A-AA40-3C904AB69048}">
      <dsp:nvSpPr>
        <dsp:cNvPr id="0" name=""/>
        <dsp:cNvSpPr/>
      </dsp:nvSpPr>
      <dsp:spPr>
        <a:xfrm>
          <a:off x="47868" y="3037544"/>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3870105"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900980" y="1337971"/>
          <a:ext cx="6642633" cy="887994"/>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14438" tIns="96520" rIns="96520" bIns="96520" numCol="1" spcCol="1270" rtlCol="0" anchor="ctr" anchorCtr="0">
          <a:noAutofit/>
        </a:bodyPr>
        <a:lstStyle/>
        <a:p>
          <a:pPr marL="0" lvl="0" indent="0" algn="l" defTabSz="1689100" rtl="0">
            <a:lnSpc>
              <a:spcPct val="100000"/>
            </a:lnSpc>
            <a:spcBef>
              <a:spcPct val="0"/>
            </a:spcBef>
            <a:spcAft>
              <a:spcPct val="35000"/>
            </a:spcAft>
            <a:buNone/>
          </a:pPr>
          <a:r>
            <a:rPr lang="fr-FR" sz="3800" b="1" kern="1200" noProof="0" dirty="0">
              <a:solidFill>
                <a:schemeClr val="bg1"/>
              </a:solidFill>
            </a:rPr>
            <a:t>1- INTRODUCTION</a:t>
          </a:r>
          <a:r>
            <a:rPr lang="fr-FR" sz="3800" kern="1200" noProof="0" dirty="0">
              <a:solidFill>
                <a:schemeClr val="accent3">
                  <a:lumMod val="40000"/>
                  <a:lumOff val="60000"/>
                </a:schemeClr>
              </a:solidFill>
            </a:rPr>
            <a:t>	</a:t>
          </a:r>
        </a:p>
      </dsp:txBody>
      <dsp:txXfrm>
        <a:off x="900980" y="1337971"/>
        <a:ext cx="6642633" cy="887994"/>
      </dsp:txXfrm>
    </dsp:sp>
    <dsp:sp modelId="{07CB3071-D555-47DA-A36A-69EB91531FD8}">
      <dsp:nvSpPr>
        <dsp:cNvPr id="0" name=""/>
        <dsp:cNvSpPr/>
      </dsp:nvSpPr>
      <dsp:spPr>
        <a:xfrm>
          <a:off x="169614" y="1033012"/>
          <a:ext cx="1462732" cy="1497912"/>
        </a:xfrm>
        <a:prstGeom prst="ellipse">
          <a:avLst/>
        </a:prstGeom>
        <a:gradFill rotWithShape="1">
          <a:gsLst>
            <a:gs pos="0">
              <a:schemeClr val="accent3">
                <a:tint val="68000"/>
                <a:alpha val="90000"/>
                <a:lumMod val="100000"/>
              </a:schemeClr>
            </a:gs>
            <a:gs pos="100000">
              <a:schemeClr val="accent3">
                <a:tint val="90000"/>
                <a:lumMod val="95000"/>
              </a:schemeClr>
            </a:gs>
          </a:gsLst>
          <a:lin ang="5400000" scaled="1"/>
        </a:gradFill>
        <a:ln w="12700" cap="rnd" cmpd="sng" algn="ctr">
          <a:solidFill>
            <a:schemeClr val="accent3">
              <a:lumMod val="90000"/>
            </a:schemeClr>
          </a:solidFill>
          <a:prstDash val="solid"/>
        </a:ln>
        <a:effectLst/>
      </dsp:spPr>
      <dsp:style>
        <a:lnRef idx="1">
          <a:schemeClr val="accent3"/>
        </a:lnRef>
        <a:fillRef idx="2">
          <a:schemeClr val="accent3"/>
        </a:fillRef>
        <a:effectRef idx="1">
          <a:schemeClr val="accent3"/>
        </a:effectRef>
        <a:fontRef idx="minor">
          <a:schemeClr val="dk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34603" y="-597479"/>
          <a:ext cx="4637284" cy="4637284"/>
        </a:xfrm>
        <a:prstGeom prst="blockArc">
          <a:avLst>
            <a:gd name="adj1" fmla="val 18900000"/>
            <a:gd name="adj2" fmla="val 2700000"/>
            <a:gd name="adj3" fmla="val 466"/>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22570" y="1208256"/>
          <a:ext cx="8615228" cy="1025811"/>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66173" tIns="71120" rIns="71120" bIns="71120" numCol="1" spcCol="1270" rtlCol="0" anchor="ctr" anchorCtr="0">
          <a:noAutofit/>
        </a:bodyPr>
        <a:lstStyle/>
        <a:p>
          <a:pPr marL="0" lvl="0" indent="0" algn="l" defTabSz="1244600" rtl="0">
            <a:lnSpc>
              <a:spcPct val="100000"/>
            </a:lnSpc>
            <a:spcBef>
              <a:spcPct val="0"/>
            </a:spcBef>
            <a:spcAft>
              <a:spcPct val="35000"/>
            </a:spcAft>
            <a:buNone/>
          </a:pPr>
          <a:r>
            <a:rPr lang="fr-FR" sz="2800" b="1" kern="1200" noProof="0" dirty="0">
              <a:solidFill>
                <a:schemeClr val="bg1"/>
              </a:solidFill>
            </a:rPr>
            <a:t>2- PRESENTATION DE L’ENTREPRISE</a:t>
          </a:r>
          <a:endParaRPr lang="fr-FR" sz="2800" b="1" kern="1200" noProof="0" dirty="0">
            <a:solidFill>
              <a:schemeClr val="accent3">
                <a:lumMod val="40000"/>
                <a:lumOff val="60000"/>
              </a:schemeClr>
            </a:solidFill>
          </a:endParaRPr>
        </a:p>
      </dsp:txBody>
      <dsp:txXfrm>
        <a:off x="-22570" y="1208256"/>
        <a:ext cx="8615228" cy="1025811"/>
      </dsp:txXfrm>
    </dsp:sp>
    <dsp:sp modelId="{07CB3071-D555-47DA-A36A-69EB91531FD8}">
      <dsp:nvSpPr>
        <dsp:cNvPr id="0" name=""/>
        <dsp:cNvSpPr/>
      </dsp:nvSpPr>
      <dsp:spPr>
        <a:xfrm>
          <a:off x="-134361" y="994407"/>
          <a:ext cx="1419372" cy="1453509"/>
        </a:xfrm>
        <a:prstGeom prst="ellipse">
          <a:avLst/>
        </a:prstGeom>
        <a:gradFill rotWithShape="1">
          <a:gsLst>
            <a:gs pos="0">
              <a:schemeClr val="accent3">
                <a:tint val="68000"/>
                <a:alpha val="90000"/>
                <a:lumMod val="100000"/>
              </a:schemeClr>
            </a:gs>
            <a:gs pos="100000">
              <a:schemeClr val="accent3">
                <a:tint val="90000"/>
                <a:lumMod val="95000"/>
              </a:schemeClr>
            </a:gs>
          </a:gsLst>
          <a:lin ang="5400000" scaled="1"/>
        </a:gradFill>
        <a:ln w="12700" cap="rnd" cmpd="sng" algn="ctr">
          <a:solidFill>
            <a:schemeClr val="accent3">
              <a:lumMod val="90000"/>
            </a:schemeClr>
          </a:solidFill>
          <a:prstDash val="solid"/>
        </a:ln>
        <a:effectLst/>
      </dsp:spPr>
      <dsp:style>
        <a:lnRef idx="1">
          <a:schemeClr val="accent3"/>
        </a:lnRef>
        <a:fillRef idx="2">
          <a:schemeClr val="accent3"/>
        </a:fillRef>
        <a:effectRef idx="1">
          <a:schemeClr val="accent3"/>
        </a:effectRef>
        <a:fontRef idx="minor">
          <a:schemeClr val="dk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152929"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50912" y="1337109"/>
          <a:ext cx="8182713" cy="889719"/>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14438" tIns="71120" rIns="71120" bIns="71120" numCol="1" spcCol="1270" rtlCol="0" anchor="ctr" anchorCtr="0">
          <a:noAutofit/>
        </a:bodyPr>
        <a:lstStyle/>
        <a:p>
          <a:pPr marL="0" lvl="0" indent="0" algn="l" defTabSz="1244600" rtl="0">
            <a:lnSpc>
              <a:spcPct val="100000"/>
            </a:lnSpc>
            <a:spcBef>
              <a:spcPct val="0"/>
            </a:spcBef>
            <a:spcAft>
              <a:spcPct val="35000"/>
            </a:spcAft>
            <a:buNone/>
          </a:pPr>
          <a:r>
            <a:rPr lang="fr-FR" sz="2800" b="1" kern="1200" noProof="0" dirty="0">
              <a:solidFill>
                <a:schemeClr val="bg1"/>
              </a:solidFill>
            </a:rPr>
            <a:t>3- IDENTIFICATION DES PROBLEMES</a:t>
          </a:r>
          <a:endParaRPr lang="fr-FR" sz="2800" b="1" kern="1200" noProof="0" dirty="0">
            <a:solidFill>
              <a:schemeClr val="accent3">
                <a:lumMod val="40000"/>
                <a:lumOff val="60000"/>
              </a:schemeClr>
            </a:solidFill>
          </a:endParaRPr>
        </a:p>
      </dsp:txBody>
      <dsp:txXfrm>
        <a:off x="50912" y="1337109"/>
        <a:ext cx="8182713" cy="889719"/>
      </dsp:txXfrm>
    </dsp:sp>
    <dsp:sp modelId="{07CB3071-D555-47DA-A36A-69EB91531FD8}">
      <dsp:nvSpPr>
        <dsp:cNvPr id="0" name=""/>
        <dsp:cNvSpPr/>
      </dsp:nvSpPr>
      <dsp:spPr>
        <a:xfrm>
          <a:off x="-113995" y="1031558"/>
          <a:ext cx="1465573" cy="1500821"/>
        </a:xfrm>
        <a:prstGeom prst="ellipse">
          <a:avLst/>
        </a:prstGeom>
        <a:gradFill rotWithShape="1">
          <a:gsLst>
            <a:gs pos="0">
              <a:schemeClr val="accent3">
                <a:tint val="68000"/>
                <a:alpha val="90000"/>
                <a:lumMod val="100000"/>
              </a:schemeClr>
            </a:gs>
            <a:gs pos="100000">
              <a:schemeClr val="accent3">
                <a:tint val="90000"/>
                <a:lumMod val="95000"/>
              </a:schemeClr>
            </a:gs>
          </a:gsLst>
          <a:lin ang="5400000" scaled="1"/>
        </a:gradFill>
        <a:ln w="12700" cap="rnd" cmpd="sng" algn="ctr">
          <a:solidFill>
            <a:schemeClr val="accent3">
              <a:lumMod val="90000"/>
            </a:schemeClr>
          </a:solidFill>
          <a:prstDash val="solid"/>
        </a:ln>
        <a:effectLst/>
      </dsp:spPr>
      <dsp:style>
        <a:lnRef idx="1">
          <a:schemeClr val="accent3"/>
        </a:lnRef>
        <a:fillRef idx="2">
          <a:schemeClr val="accent3"/>
        </a:fillRef>
        <a:effectRef idx="1">
          <a:schemeClr val="accent3"/>
        </a:effectRef>
        <a:fontRef idx="minor">
          <a:schemeClr val="dk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152929"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50912" y="1337109"/>
          <a:ext cx="8182713" cy="889719"/>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14438" tIns="71120" rIns="71120" bIns="71120" numCol="1" spcCol="1270" rtlCol="0" anchor="ctr" anchorCtr="0">
          <a:noAutofit/>
        </a:bodyPr>
        <a:lstStyle/>
        <a:p>
          <a:pPr marL="0" lvl="0" indent="0" algn="l" defTabSz="1244600" rtl="0">
            <a:lnSpc>
              <a:spcPct val="100000"/>
            </a:lnSpc>
            <a:spcBef>
              <a:spcPct val="0"/>
            </a:spcBef>
            <a:spcAft>
              <a:spcPct val="35000"/>
            </a:spcAft>
            <a:buNone/>
          </a:pPr>
          <a:r>
            <a:rPr lang="fr-FR" sz="2800" b="1" kern="1200" noProof="0" dirty="0">
              <a:solidFill>
                <a:schemeClr val="bg1"/>
              </a:solidFill>
            </a:rPr>
            <a:t>4- CONCEPTION</a:t>
          </a:r>
          <a:r>
            <a:rPr lang="fr-FR" sz="2800" b="1" kern="1200" baseline="0" noProof="0" dirty="0">
              <a:solidFill>
                <a:schemeClr val="bg1"/>
              </a:solidFill>
            </a:rPr>
            <a:t> DE LA SOLUTION</a:t>
          </a:r>
          <a:endParaRPr lang="fr-FR" sz="2800" b="1" kern="1200" noProof="0" dirty="0">
            <a:solidFill>
              <a:schemeClr val="bg1"/>
            </a:solidFill>
          </a:endParaRPr>
        </a:p>
      </dsp:txBody>
      <dsp:txXfrm>
        <a:off x="50912" y="1337109"/>
        <a:ext cx="8182713" cy="889719"/>
      </dsp:txXfrm>
    </dsp:sp>
    <dsp:sp modelId="{07CB3071-D555-47DA-A36A-69EB91531FD8}">
      <dsp:nvSpPr>
        <dsp:cNvPr id="0" name=""/>
        <dsp:cNvSpPr/>
      </dsp:nvSpPr>
      <dsp:spPr>
        <a:xfrm>
          <a:off x="-113995" y="1031558"/>
          <a:ext cx="1465573" cy="1500821"/>
        </a:xfrm>
        <a:prstGeom prst="ellipse">
          <a:avLst/>
        </a:prstGeom>
        <a:gradFill rotWithShape="1">
          <a:gsLst>
            <a:gs pos="0">
              <a:schemeClr val="accent3">
                <a:tint val="68000"/>
                <a:alpha val="90000"/>
                <a:lumMod val="100000"/>
              </a:schemeClr>
            </a:gs>
            <a:gs pos="100000">
              <a:schemeClr val="accent3">
                <a:tint val="90000"/>
                <a:lumMod val="95000"/>
              </a:schemeClr>
            </a:gs>
          </a:gsLst>
          <a:lin ang="5400000" scaled="1"/>
        </a:gradFill>
        <a:ln w="12700" cap="rnd" cmpd="sng" algn="ctr">
          <a:solidFill>
            <a:schemeClr val="accent3">
              <a:lumMod val="90000"/>
            </a:schemeClr>
          </a:solidFill>
          <a:prstDash val="solid"/>
        </a:ln>
        <a:effectLst/>
      </dsp:spPr>
      <dsp:style>
        <a:lnRef idx="1">
          <a:schemeClr val="accent3"/>
        </a:lnRef>
        <a:fillRef idx="2">
          <a:schemeClr val="accent3"/>
        </a:fillRef>
        <a:effectRef idx="1">
          <a:schemeClr val="accent3"/>
        </a:effectRef>
        <a:fontRef idx="minor">
          <a:schemeClr val="dk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152929"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50912" y="1337109"/>
          <a:ext cx="8182713" cy="889719"/>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14438" tIns="71120" rIns="71120" bIns="71120" numCol="1" spcCol="1270" rtlCol="0" anchor="ctr" anchorCtr="0">
          <a:noAutofit/>
        </a:bodyPr>
        <a:lstStyle/>
        <a:p>
          <a:pPr marL="0" lvl="0" indent="0" algn="l" defTabSz="1244600" rtl="0">
            <a:lnSpc>
              <a:spcPct val="100000"/>
            </a:lnSpc>
            <a:spcBef>
              <a:spcPct val="0"/>
            </a:spcBef>
            <a:spcAft>
              <a:spcPct val="35000"/>
            </a:spcAft>
            <a:buNone/>
          </a:pPr>
          <a:r>
            <a:rPr lang="fr-FR" sz="2800" b="1" kern="1200" noProof="0" dirty="0">
              <a:solidFill>
                <a:schemeClr val="bg1"/>
              </a:solidFill>
            </a:rPr>
            <a:t>5-VALIDATION DE LA SOLUTION</a:t>
          </a:r>
        </a:p>
      </dsp:txBody>
      <dsp:txXfrm>
        <a:off x="50912" y="1337109"/>
        <a:ext cx="8182713" cy="889719"/>
      </dsp:txXfrm>
    </dsp:sp>
    <dsp:sp modelId="{07CB3071-D555-47DA-A36A-69EB91531FD8}">
      <dsp:nvSpPr>
        <dsp:cNvPr id="0" name=""/>
        <dsp:cNvSpPr/>
      </dsp:nvSpPr>
      <dsp:spPr>
        <a:xfrm>
          <a:off x="-113995" y="1031558"/>
          <a:ext cx="1465573" cy="1500821"/>
        </a:xfrm>
        <a:prstGeom prst="ellipse">
          <a:avLst/>
        </a:prstGeom>
        <a:gradFill rotWithShape="1">
          <a:gsLst>
            <a:gs pos="0">
              <a:schemeClr val="accent3">
                <a:tint val="68000"/>
                <a:alpha val="90000"/>
                <a:lumMod val="100000"/>
              </a:schemeClr>
            </a:gs>
            <a:gs pos="100000">
              <a:schemeClr val="accent3">
                <a:tint val="90000"/>
                <a:lumMod val="95000"/>
              </a:schemeClr>
            </a:gs>
          </a:gsLst>
          <a:lin ang="5400000" scaled="1"/>
        </a:gradFill>
        <a:ln w="12700" cap="rnd" cmpd="sng" algn="ctr">
          <a:solidFill>
            <a:schemeClr val="accent3">
              <a:lumMod val="90000"/>
            </a:schemeClr>
          </a:solidFill>
          <a:prstDash val="solid"/>
        </a:ln>
        <a:effectLst/>
      </dsp:spPr>
      <dsp:style>
        <a:lnRef idx="1">
          <a:schemeClr val="accent3"/>
        </a:lnRef>
        <a:fillRef idx="2">
          <a:schemeClr val="accent3"/>
        </a:fillRef>
        <a:effectRef idx="1">
          <a:schemeClr val="accent3"/>
        </a:effectRef>
        <a:fontRef idx="minor">
          <a:schemeClr val="dk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152929"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50912" y="1337109"/>
          <a:ext cx="8182713" cy="889719"/>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14438" tIns="71120" rIns="71120" bIns="71120" numCol="1" spcCol="1270" rtlCol="0" anchor="ctr" anchorCtr="0">
          <a:noAutofit/>
        </a:bodyPr>
        <a:lstStyle/>
        <a:p>
          <a:pPr marL="0" lvl="0" indent="0" algn="l" defTabSz="1244600" rtl="0">
            <a:lnSpc>
              <a:spcPct val="100000"/>
            </a:lnSpc>
            <a:spcBef>
              <a:spcPct val="0"/>
            </a:spcBef>
            <a:spcAft>
              <a:spcPct val="35000"/>
            </a:spcAft>
            <a:buNone/>
          </a:pPr>
          <a:r>
            <a:rPr lang="fr-FR" sz="2800" b="1" kern="1200" noProof="0" dirty="0">
              <a:solidFill>
                <a:schemeClr val="bg1"/>
              </a:solidFill>
            </a:rPr>
            <a:t>6-LIMITES ET PERSPECTIVES</a:t>
          </a:r>
        </a:p>
      </dsp:txBody>
      <dsp:txXfrm>
        <a:off x="50912" y="1337109"/>
        <a:ext cx="8182713" cy="889719"/>
      </dsp:txXfrm>
    </dsp:sp>
    <dsp:sp modelId="{07CB3071-D555-47DA-A36A-69EB91531FD8}">
      <dsp:nvSpPr>
        <dsp:cNvPr id="0" name=""/>
        <dsp:cNvSpPr/>
      </dsp:nvSpPr>
      <dsp:spPr>
        <a:xfrm>
          <a:off x="-113995" y="1031558"/>
          <a:ext cx="1465573" cy="1500821"/>
        </a:xfrm>
        <a:prstGeom prst="ellipse">
          <a:avLst/>
        </a:prstGeom>
        <a:gradFill rotWithShape="1">
          <a:gsLst>
            <a:gs pos="0">
              <a:schemeClr val="accent3">
                <a:tint val="68000"/>
                <a:alpha val="90000"/>
                <a:lumMod val="100000"/>
              </a:schemeClr>
            </a:gs>
            <a:gs pos="100000">
              <a:schemeClr val="accent3">
                <a:tint val="90000"/>
                <a:lumMod val="95000"/>
              </a:schemeClr>
            </a:gs>
          </a:gsLst>
          <a:lin ang="5400000" scaled="1"/>
        </a:gradFill>
        <a:ln w="12700" cap="rnd" cmpd="sng" algn="ctr">
          <a:solidFill>
            <a:schemeClr val="accent3">
              <a:lumMod val="90000"/>
            </a:schemeClr>
          </a:solidFill>
          <a:prstDash val="solid"/>
        </a:ln>
        <a:effectLst/>
      </dsp:spPr>
      <dsp:style>
        <a:lnRef idx="1">
          <a:schemeClr val="accent3"/>
        </a:lnRef>
        <a:fillRef idx="2">
          <a:schemeClr val="accent3"/>
        </a:fillRef>
        <a:effectRef idx="1">
          <a:schemeClr val="accent3"/>
        </a:effectRef>
        <a:fontRef idx="minor">
          <a:schemeClr val="dk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152929"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50912" y="1337109"/>
          <a:ext cx="8182713" cy="889719"/>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14438" tIns="71120" rIns="71120" bIns="71120" numCol="1" spcCol="1270" rtlCol="0" anchor="ctr" anchorCtr="0">
          <a:noAutofit/>
        </a:bodyPr>
        <a:lstStyle/>
        <a:p>
          <a:pPr marL="0" lvl="0" indent="0" algn="l" defTabSz="1244600" rtl="0">
            <a:lnSpc>
              <a:spcPct val="100000"/>
            </a:lnSpc>
            <a:spcBef>
              <a:spcPct val="0"/>
            </a:spcBef>
            <a:spcAft>
              <a:spcPct val="35000"/>
            </a:spcAft>
            <a:buNone/>
          </a:pPr>
          <a:r>
            <a:rPr lang="fr-FR" sz="2800" b="1" kern="1200" noProof="0" dirty="0">
              <a:solidFill>
                <a:schemeClr val="bg1"/>
              </a:solidFill>
            </a:rPr>
            <a:t>7- CONCLUSION</a:t>
          </a:r>
        </a:p>
      </dsp:txBody>
      <dsp:txXfrm>
        <a:off x="50912" y="1337109"/>
        <a:ext cx="8182713" cy="889719"/>
      </dsp:txXfrm>
    </dsp:sp>
    <dsp:sp modelId="{07CB3071-D555-47DA-A36A-69EB91531FD8}">
      <dsp:nvSpPr>
        <dsp:cNvPr id="0" name=""/>
        <dsp:cNvSpPr/>
      </dsp:nvSpPr>
      <dsp:spPr>
        <a:xfrm>
          <a:off x="-113995" y="1031558"/>
          <a:ext cx="1465573" cy="1500821"/>
        </a:xfrm>
        <a:prstGeom prst="ellipse">
          <a:avLst/>
        </a:prstGeom>
        <a:gradFill rotWithShape="1">
          <a:gsLst>
            <a:gs pos="0">
              <a:schemeClr val="accent3">
                <a:tint val="68000"/>
                <a:alpha val="90000"/>
                <a:lumMod val="100000"/>
              </a:schemeClr>
            </a:gs>
            <a:gs pos="100000">
              <a:schemeClr val="accent3">
                <a:tint val="90000"/>
                <a:lumMod val="95000"/>
              </a:schemeClr>
            </a:gs>
          </a:gsLst>
          <a:lin ang="5400000" scaled="1"/>
        </a:gradFill>
        <a:ln w="12700" cap="rnd" cmpd="sng" algn="ctr">
          <a:solidFill>
            <a:schemeClr val="accent3">
              <a:lumMod val="90000"/>
            </a:schemeClr>
          </a:solidFill>
          <a:prstDash val="solid"/>
        </a:ln>
        <a:effectLst/>
      </dsp:spPr>
      <dsp:style>
        <a:lnRef idx="1">
          <a:schemeClr val="accent3"/>
        </a:lnRef>
        <a:fillRef idx="2">
          <a:schemeClr val="accent3"/>
        </a:fillRef>
        <a:effectRef idx="1">
          <a:schemeClr val="accent3"/>
        </a:effectRef>
        <a:fontRef idx="minor">
          <a:schemeClr val="dk1"/>
        </a:fontRef>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7EA3F540-FE87-41E9-A235-D9041E0E0A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54C17DD8-84AF-4EB9-9557-AB1C0330B3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D658AD-667A-447C-9390-E71043034E97}" type="datetimeFigureOut">
              <a:rPr lang="fr-FR" smtClean="0"/>
              <a:t>25/09/2026</a:t>
            </a:fld>
            <a:endParaRPr lang="fr-FR"/>
          </a:p>
        </p:txBody>
      </p:sp>
      <p:sp>
        <p:nvSpPr>
          <p:cNvPr id="4" name="Espace réservé du pied de page 3">
            <a:extLst>
              <a:ext uri="{FF2B5EF4-FFF2-40B4-BE49-F238E27FC236}">
                <a16:creationId xmlns:a16="http://schemas.microsoft.com/office/drawing/2014/main" id="{6439DE42-9A3A-46E5-8973-C9B0B4C46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BFFAC62-5CB8-4CC9-8DC9-D2E88251AB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EB129A-2B19-4071-964D-74643083C4E2}" type="slidenum">
              <a:rPr lang="fr-FR" smtClean="0"/>
              <a:t>‹N°›</a:t>
            </a:fld>
            <a:endParaRPr lang="fr-FR"/>
          </a:p>
        </p:txBody>
      </p:sp>
    </p:spTree>
    <p:extLst>
      <p:ext uri="{BB962C8B-B14F-4D97-AF65-F5344CB8AC3E}">
        <p14:creationId xmlns:p14="http://schemas.microsoft.com/office/powerpoint/2010/main" val="10111925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CE04F4-FA29-4B09-BCF4-65FEC86DEAEF}" type="datetimeFigureOut">
              <a:rPr lang="fr-FR" smtClean="0"/>
              <a:t>25/09/2026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noProof="0" dirty="0"/>
              <a:t>Modifiez les styles du texte du masque</a:t>
            </a:r>
            <a:endParaRPr lang="fr-FR" dirty="0"/>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7C17D2-97F6-442D-8E69-9D298721DAF2}" type="slidenum">
              <a:rPr lang="fr-FR" smtClean="0"/>
              <a:t>‹N°›</a:t>
            </a:fld>
            <a:endParaRPr lang="fr-FR" dirty="0"/>
          </a:p>
        </p:txBody>
      </p:sp>
    </p:spTree>
    <p:extLst>
      <p:ext uri="{BB962C8B-B14F-4D97-AF65-F5344CB8AC3E}">
        <p14:creationId xmlns:p14="http://schemas.microsoft.com/office/powerpoint/2010/main" val="1203421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a:t>
            </a:fld>
            <a:endParaRPr lang="fr-FR" dirty="0"/>
          </a:p>
        </p:txBody>
      </p:sp>
    </p:spTree>
    <p:extLst>
      <p:ext uri="{BB962C8B-B14F-4D97-AF65-F5344CB8AC3E}">
        <p14:creationId xmlns:p14="http://schemas.microsoft.com/office/powerpoint/2010/main" val="1011985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a:t>
            </a:fld>
            <a:endParaRPr lang="fr-FR"/>
          </a:p>
        </p:txBody>
      </p:sp>
    </p:spTree>
    <p:extLst>
      <p:ext uri="{BB962C8B-B14F-4D97-AF65-F5344CB8AC3E}">
        <p14:creationId xmlns:p14="http://schemas.microsoft.com/office/powerpoint/2010/main" val="3605795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3</a:t>
            </a:fld>
            <a:endParaRPr lang="fr-FR"/>
          </a:p>
        </p:txBody>
      </p:sp>
    </p:spTree>
    <p:extLst>
      <p:ext uri="{BB962C8B-B14F-4D97-AF65-F5344CB8AC3E}">
        <p14:creationId xmlns:p14="http://schemas.microsoft.com/office/powerpoint/2010/main" val="2353734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4</a:t>
            </a:fld>
            <a:endParaRPr lang="fr-FR" dirty="0"/>
          </a:p>
        </p:txBody>
      </p:sp>
    </p:spTree>
    <p:extLst>
      <p:ext uri="{BB962C8B-B14F-4D97-AF65-F5344CB8AC3E}">
        <p14:creationId xmlns:p14="http://schemas.microsoft.com/office/powerpoint/2010/main" val="3105416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5</a:t>
            </a:fld>
            <a:endParaRPr lang="fr-FR" dirty="0"/>
          </a:p>
        </p:txBody>
      </p:sp>
    </p:spTree>
    <p:extLst>
      <p:ext uri="{BB962C8B-B14F-4D97-AF65-F5344CB8AC3E}">
        <p14:creationId xmlns:p14="http://schemas.microsoft.com/office/powerpoint/2010/main" val="2199581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6</a:t>
            </a:fld>
            <a:endParaRPr lang="fr-FR" dirty="0"/>
          </a:p>
        </p:txBody>
      </p:sp>
    </p:spTree>
    <p:extLst>
      <p:ext uri="{BB962C8B-B14F-4D97-AF65-F5344CB8AC3E}">
        <p14:creationId xmlns:p14="http://schemas.microsoft.com/office/powerpoint/2010/main" val="1474449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7</a:t>
            </a:fld>
            <a:endParaRPr lang="fr-FR" dirty="0"/>
          </a:p>
        </p:txBody>
      </p:sp>
    </p:spTree>
    <p:extLst>
      <p:ext uri="{BB962C8B-B14F-4D97-AF65-F5344CB8AC3E}">
        <p14:creationId xmlns:p14="http://schemas.microsoft.com/office/powerpoint/2010/main" val="1416337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8</a:t>
            </a:fld>
            <a:endParaRPr lang="fr-FR"/>
          </a:p>
        </p:txBody>
      </p:sp>
    </p:spTree>
    <p:extLst>
      <p:ext uri="{BB962C8B-B14F-4D97-AF65-F5344CB8AC3E}">
        <p14:creationId xmlns:p14="http://schemas.microsoft.com/office/powerpoint/2010/main" val="1052421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9</a:t>
            </a:fld>
            <a:endParaRPr lang="fr-FR" dirty="0"/>
          </a:p>
        </p:txBody>
      </p:sp>
    </p:spTree>
    <p:extLst>
      <p:ext uri="{BB962C8B-B14F-4D97-AF65-F5344CB8AC3E}">
        <p14:creationId xmlns:p14="http://schemas.microsoft.com/office/powerpoint/2010/main" val="526367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10</a:t>
            </a:fld>
            <a:endParaRPr lang="fr-FR"/>
          </a:p>
        </p:txBody>
      </p:sp>
    </p:spTree>
    <p:extLst>
      <p:ext uri="{BB962C8B-B14F-4D97-AF65-F5344CB8AC3E}">
        <p14:creationId xmlns:p14="http://schemas.microsoft.com/office/powerpoint/2010/main" val="2291803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11</a:t>
            </a:fld>
            <a:endParaRPr lang="fr-FR" dirty="0"/>
          </a:p>
        </p:txBody>
      </p:sp>
    </p:spTree>
    <p:extLst>
      <p:ext uri="{BB962C8B-B14F-4D97-AF65-F5344CB8AC3E}">
        <p14:creationId xmlns:p14="http://schemas.microsoft.com/office/powerpoint/2010/main" val="1788429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12</a:t>
            </a:fld>
            <a:endParaRPr lang="fr-FR" dirty="0"/>
          </a:p>
        </p:txBody>
      </p:sp>
    </p:spTree>
    <p:extLst>
      <p:ext uri="{BB962C8B-B14F-4D97-AF65-F5344CB8AC3E}">
        <p14:creationId xmlns:p14="http://schemas.microsoft.com/office/powerpoint/2010/main" val="4090269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13</a:t>
            </a:fld>
            <a:endParaRPr lang="fr-FR" dirty="0"/>
          </a:p>
        </p:txBody>
      </p:sp>
    </p:spTree>
    <p:extLst>
      <p:ext uri="{BB962C8B-B14F-4D97-AF65-F5344CB8AC3E}">
        <p14:creationId xmlns:p14="http://schemas.microsoft.com/office/powerpoint/2010/main" val="3847264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14</a:t>
            </a:fld>
            <a:endParaRPr lang="fr-FR" dirty="0"/>
          </a:p>
        </p:txBody>
      </p:sp>
    </p:spTree>
    <p:extLst>
      <p:ext uri="{BB962C8B-B14F-4D97-AF65-F5344CB8AC3E}">
        <p14:creationId xmlns:p14="http://schemas.microsoft.com/office/powerpoint/2010/main" val="2042201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15</a:t>
            </a:fld>
            <a:endParaRPr lang="fr-FR" dirty="0"/>
          </a:p>
        </p:txBody>
      </p:sp>
    </p:spTree>
    <p:extLst>
      <p:ext uri="{BB962C8B-B14F-4D97-AF65-F5344CB8AC3E}">
        <p14:creationId xmlns:p14="http://schemas.microsoft.com/office/powerpoint/2010/main" val="19519361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16</a:t>
            </a:fld>
            <a:endParaRPr lang="fr-FR" dirty="0"/>
          </a:p>
        </p:txBody>
      </p:sp>
    </p:spTree>
    <p:extLst>
      <p:ext uri="{BB962C8B-B14F-4D97-AF65-F5344CB8AC3E}">
        <p14:creationId xmlns:p14="http://schemas.microsoft.com/office/powerpoint/2010/main" val="1579789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17</a:t>
            </a:fld>
            <a:endParaRPr lang="fr-FR" dirty="0"/>
          </a:p>
        </p:txBody>
      </p:sp>
    </p:spTree>
    <p:extLst>
      <p:ext uri="{BB962C8B-B14F-4D97-AF65-F5344CB8AC3E}">
        <p14:creationId xmlns:p14="http://schemas.microsoft.com/office/powerpoint/2010/main" val="42212371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18</a:t>
            </a:fld>
            <a:endParaRPr lang="fr-FR" dirty="0"/>
          </a:p>
        </p:txBody>
      </p:sp>
    </p:spTree>
    <p:extLst>
      <p:ext uri="{BB962C8B-B14F-4D97-AF65-F5344CB8AC3E}">
        <p14:creationId xmlns:p14="http://schemas.microsoft.com/office/powerpoint/2010/main" val="3182459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19</a:t>
            </a:fld>
            <a:endParaRPr lang="fr-FR"/>
          </a:p>
        </p:txBody>
      </p:sp>
    </p:spTree>
    <p:extLst>
      <p:ext uri="{BB962C8B-B14F-4D97-AF65-F5344CB8AC3E}">
        <p14:creationId xmlns:p14="http://schemas.microsoft.com/office/powerpoint/2010/main" val="1506348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20</a:t>
            </a:fld>
            <a:endParaRPr lang="fr-FR" dirty="0"/>
          </a:p>
        </p:txBody>
      </p:sp>
    </p:spTree>
    <p:extLst>
      <p:ext uri="{BB962C8B-B14F-4D97-AF65-F5344CB8AC3E}">
        <p14:creationId xmlns:p14="http://schemas.microsoft.com/office/powerpoint/2010/main" val="2175216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21</a:t>
            </a:fld>
            <a:endParaRPr lang="fr-FR" dirty="0"/>
          </a:p>
        </p:txBody>
      </p:sp>
    </p:spTree>
    <p:extLst>
      <p:ext uri="{BB962C8B-B14F-4D97-AF65-F5344CB8AC3E}">
        <p14:creationId xmlns:p14="http://schemas.microsoft.com/office/powerpoint/2010/main" val="27951944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22</a:t>
            </a:fld>
            <a:endParaRPr lang="fr-FR" dirty="0"/>
          </a:p>
        </p:txBody>
      </p:sp>
    </p:spTree>
    <p:extLst>
      <p:ext uri="{BB962C8B-B14F-4D97-AF65-F5344CB8AC3E}">
        <p14:creationId xmlns:p14="http://schemas.microsoft.com/office/powerpoint/2010/main" val="3547635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23</a:t>
            </a:fld>
            <a:endParaRPr lang="fr-FR" dirty="0"/>
          </a:p>
        </p:txBody>
      </p:sp>
    </p:spTree>
    <p:extLst>
      <p:ext uri="{BB962C8B-B14F-4D97-AF65-F5344CB8AC3E}">
        <p14:creationId xmlns:p14="http://schemas.microsoft.com/office/powerpoint/2010/main" val="17969827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24</a:t>
            </a:fld>
            <a:endParaRPr lang="fr-FR" dirty="0"/>
          </a:p>
        </p:txBody>
      </p:sp>
    </p:spTree>
    <p:extLst>
      <p:ext uri="{BB962C8B-B14F-4D97-AF65-F5344CB8AC3E}">
        <p14:creationId xmlns:p14="http://schemas.microsoft.com/office/powerpoint/2010/main" val="31985103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25</a:t>
            </a:fld>
            <a:endParaRPr lang="fr-FR" dirty="0"/>
          </a:p>
        </p:txBody>
      </p:sp>
    </p:spTree>
    <p:extLst>
      <p:ext uri="{BB962C8B-B14F-4D97-AF65-F5344CB8AC3E}">
        <p14:creationId xmlns:p14="http://schemas.microsoft.com/office/powerpoint/2010/main" val="39972924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26</a:t>
            </a:fld>
            <a:endParaRPr lang="fr-FR" dirty="0"/>
          </a:p>
        </p:txBody>
      </p:sp>
    </p:spTree>
    <p:extLst>
      <p:ext uri="{BB962C8B-B14F-4D97-AF65-F5344CB8AC3E}">
        <p14:creationId xmlns:p14="http://schemas.microsoft.com/office/powerpoint/2010/main" val="14551208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27</a:t>
            </a:fld>
            <a:endParaRPr lang="fr-FR" dirty="0"/>
          </a:p>
        </p:txBody>
      </p:sp>
    </p:spTree>
    <p:extLst>
      <p:ext uri="{BB962C8B-B14F-4D97-AF65-F5344CB8AC3E}">
        <p14:creationId xmlns:p14="http://schemas.microsoft.com/office/powerpoint/2010/main" val="10142820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28</a:t>
            </a:fld>
            <a:endParaRPr lang="fr-FR" dirty="0"/>
          </a:p>
        </p:txBody>
      </p:sp>
    </p:spTree>
    <p:extLst>
      <p:ext uri="{BB962C8B-B14F-4D97-AF65-F5344CB8AC3E}">
        <p14:creationId xmlns:p14="http://schemas.microsoft.com/office/powerpoint/2010/main" val="21688173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29</a:t>
            </a:fld>
            <a:endParaRPr lang="fr-FR" dirty="0"/>
          </a:p>
        </p:txBody>
      </p:sp>
    </p:spTree>
    <p:extLst>
      <p:ext uri="{BB962C8B-B14F-4D97-AF65-F5344CB8AC3E}">
        <p14:creationId xmlns:p14="http://schemas.microsoft.com/office/powerpoint/2010/main" val="19036343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30</a:t>
            </a:fld>
            <a:endParaRPr lang="fr-FR" dirty="0"/>
          </a:p>
        </p:txBody>
      </p:sp>
    </p:spTree>
    <p:extLst>
      <p:ext uri="{BB962C8B-B14F-4D97-AF65-F5344CB8AC3E}">
        <p14:creationId xmlns:p14="http://schemas.microsoft.com/office/powerpoint/2010/main" val="26751297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31</a:t>
            </a:fld>
            <a:endParaRPr lang="fr-FR"/>
          </a:p>
        </p:txBody>
      </p:sp>
    </p:spTree>
    <p:extLst>
      <p:ext uri="{BB962C8B-B14F-4D97-AF65-F5344CB8AC3E}">
        <p14:creationId xmlns:p14="http://schemas.microsoft.com/office/powerpoint/2010/main" val="19029654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32</a:t>
            </a:fld>
            <a:endParaRPr lang="fr-FR" dirty="0"/>
          </a:p>
        </p:txBody>
      </p:sp>
    </p:spTree>
    <p:extLst>
      <p:ext uri="{BB962C8B-B14F-4D97-AF65-F5344CB8AC3E}">
        <p14:creationId xmlns:p14="http://schemas.microsoft.com/office/powerpoint/2010/main" val="7921014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33</a:t>
            </a:fld>
            <a:endParaRPr lang="fr-FR"/>
          </a:p>
        </p:txBody>
      </p:sp>
    </p:spTree>
    <p:extLst>
      <p:ext uri="{BB962C8B-B14F-4D97-AF65-F5344CB8AC3E}">
        <p14:creationId xmlns:p14="http://schemas.microsoft.com/office/powerpoint/2010/main" val="11190193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34</a:t>
            </a:fld>
            <a:endParaRPr lang="fr-FR" dirty="0"/>
          </a:p>
        </p:txBody>
      </p:sp>
    </p:spTree>
    <p:extLst>
      <p:ext uri="{BB962C8B-B14F-4D97-AF65-F5344CB8AC3E}">
        <p14:creationId xmlns:p14="http://schemas.microsoft.com/office/powerpoint/2010/main" val="41274871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35</a:t>
            </a:fld>
            <a:endParaRPr lang="fr-FR"/>
          </a:p>
        </p:txBody>
      </p:sp>
    </p:spTree>
    <p:extLst>
      <p:ext uri="{BB962C8B-B14F-4D97-AF65-F5344CB8AC3E}">
        <p14:creationId xmlns:p14="http://schemas.microsoft.com/office/powerpoint/2010/main" val="40891162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36</a:t>
            </a:fld>
            <a:endParaRPr lang="fr-FR" dirty="0"/>
          </a:p>
        </p:txBody>
      </p:sp>
    </p:spTree>
    <p:extLst>
      <p:ext uri="{BB962C8B-B14F-4D97-AF65-F5344CB8AC3E}">
        <p14:creationId xmlns:p14="http://schemas.microsoft.com/office/powerpoint/2010/main" val="32801821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F7C17D2-97F6-442D-8E69-9D298721DAF2}" type="slidenum">
              <a:rPr lang="fr-FR" smtClean="0"/>
              <a:t>37</a:t>
            </a:fld>
            <a:endParaRPr lang="fr-FR"/>
          </a:p>
        </p:txBody>
      </p:sp>
    </p:spTree>
    <p:extLst>
      <p:ext uri="{BB962C8B-B14F-4D97-AF65-F5344CB8AC3E}">
        <p14:creationId xmlns:p14="http://schemas.microsoft.com/office/powerpoint/2010/main" val="4150333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fr-FR" noProof="0"/>
              <a:t>Modifiez le style du titre</a:t>
            </a:r>
          </a:p>
        </p:txBody>
      </p:sp>
      <p:sp>
        <p:nvSpPr>
          <p:cNvPr id="3" name="Sous-titr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fr-FR" noProof="0"/>
              <a:t>Modifiez le style des sous-titres du masque</a:t>
            </a:r>
          </a:p>
        </p:txBody>
      </p:sp>
      <p:sp>
        <p:nvSpPr>
          <p:cNvPr id="4" name="Espace réservé à la date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A19D660A-ECF6-481C-9B60-C152AC7044BB}" type="datetime1">
              <a:rPr lang="fr-FR" noProof="0" smtClean="0"/>
              <a:t>25/09/2026</a:t>
            </a:fld>
            <a:endParaRPr lang="fr-FR" noProof="0"/>
          </a:p>
        </p:txBody>
      </p:sp>
      <p:sp>
        <p:nvSpPr>
          <p:cNvPr id="5" name="Espace réservé du pied de page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fr-FR" noProof="0"/>
          </a:p>
        </p:txBody>
      </p:sp>
      <p:sp>
        <p:nvSpPr>
          <p:cNvPr id="6" name="Espace réservé au numéro de diapositive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2" y="702156"/>
            <a:ext cx="11029616" cy="1013800"/>
          </a:xfrm>
        </p:spPr>
        <p:txBody>
          <a:bodyPr rtlCol="0"/>
          <a:lstStyle/>
          <a:p>
            <a:pPr rtl="0"/>
            <a:r>
              <a:rPr lang="fr-FR" noProof="0"/>
              <a:t>Modifiez le style du titre</a:t>
            </a:r>
          </a:p>
        </p:txBody>
      </p:sp>
      <p:sp>
        <p:nvSpPr>
          <p:cNvPr id="3" name="Espace réservé du contenu 2"/>
          <p:cNvSpPr>
            <a:spLocks noGrp="1"/>
          </p:cNvSpPr>
          <p:nvPr>
            <p:ph idx="1" hasCustomPrompt="1"/>
          </p:nvPr>
        </p:nvSpPr>
        <p:spPr>
          <a:xfrm>
            <a:off x="581192" y="2180496"/>
            <a:ext cx="11029615" cy="3678303"/>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à la date 3"/>
          <p:cNvSpPr>
            <a:spLocks noGrp="1"/>
          </p:cNvSpPr>
          <p:nvPr>
            <p:ph type="dt" sz="half" idx="10"/>
          </p:nvPr>
        </p:nvSpPr>
        <p:spPr/>
        <p:txBody>
          <a:bodyPr rtlCol="0"/>
          <a:lstStyle/>
          <a:p>
            <a:pPr rtl="0"/>
            <a:fld id="{3D36F770-2C02-4913-A33E-F30119A8EF88}" type="datetime1">
              <a:rPr lang="fr-FR" noProof="0" smtClean="0"/>
              <a:t>25/09/2026</a:t>
            </a:fld>
            <a:endParaRPr lang="fr-FR" noProof="0"/>
          </a:p>
        </p:txBody>
      </p:sp>
      <p:sp>
        <p:nvSpPr>
          <p:cNvPr id="5" name="Espace réservé a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a:xfrm>
            <a:off x="10558300" y="5956137"/>
            <a:ext cx="1052508" cy="365125"/>
          </a:xfrm>
        </p:spPr>
        <p:txBody>
          <a:bodyPr rtlCol="0"/>
          <a:lstStyle/>
          <a:p>
            <a:pPr rtl="0"/>
            <a:fld id="{D57F1E4F-1CFF-5643-939E-217C01CDF565}" type="slidenum">
              <a:rPr lang="fr-FR" noProof="0" smtClean="0"/>
              <a:pPr/>
              <a:t>‹N°›</a:t>
            </a:fld>
            <a:endParaRPr lang="fr-FR"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fr-FR" noProof="0"/>
              <a:t>Modifiez le style du titre</a:t>
            </a:r>
          </a:p>
        </p:txBody>
      </p:sp>
      <p:sp>
        <p:nvSpPr>
          <p:cNvPr id="3" name="Espace réservé du texte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a:t>Modifiez les styles du texte du masque</a:t>
            </a:r>
          </a:p>
        </p:txBody>
      </p:sp>
      <p:sp>
        <p:nvSpPr>
          <p:cNvPr id="4" name="Espace réservé à la date 3"/>
          <p:cNvSpPr>
            <a:spLocks noGrp="1"/>
          </p:cNvSpPr>
          <p:nvPr>
            <p:ph type="dt" sz="half" idx="10"/>
          </p:nvPr>
        </p:nvSpPr>
        <p:spPr/>
        <p:txBody>
          <a:bodyPr rtlCol="0"/>
          <a:lstStyle>
            <a:lvl1pPr>
              <a:defRPr>
                <a:solidFill>
                  <a:schemeClr val="accent1">
                    <a:lumMod val="75000"/>
                    <a:lumOff val="25000"/>
                  </a:schemeClr>
                </a:solidFill>
              </a:defRPr>
            </a:lvl1pPr>
          </a:lstStyle>
          <a:p>
            <a:pPr rtl="0"/>
            <a:fld id="{E4E4C2E9-EBCE-47E6-B14A-8CCFB5877A3A}" type="datetime1">
              <a:rPr lang="fr-FR" noProof="0" smtClean="0"/>
              <a:t>25/09/2026</a:t>
            </a:fld>
            <a:endParaRPr lang="fr-FR" noProof="0"/>
          </a:p>
        </p:txBody>
      </p:sp>
      <p:sp>
        <p:nvSpPr>
          <p:cNvPr id="5" name="Espace réservé au pied de page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fr-FR" noProof="0"/>
          </a:p>
        </p:txBody>
      </p:sp>
      <p:sp>
        <p:nvSpPr>
          <p:cNvPr id="6" name="Espace réservé du numéro de diapositive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fr-FR" noProof="0" smtClean="0"/>
              <a:pPr/>
              <a:t>‹N°›</a:t>
            </a:fld>
            <a:endParaRPr lang="fr-FR"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 2">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3" y="729658"/>
            <a:ext cx="11029616" cy="988332"/>
          </a:xfrm>
        </p:spPr>
        <p:txBody>
          <a:bodyPr rtlCol="0"/>
          <a:lstStyle/>
          <a:p>
            <a:pPr rtl="0"/>
            <a:r>
              <a:rPr lang="fr-FR" noProof="0"/>
              <a:t>Modifiez le style du titre</a:t>
            </a:r>
          </a:p>
        </p:txBody>
      </p:sp>
      <p:sp>
        <p:nvSpPr>
          <p:cNvPr id="3" name="Espace réservé du contenu 2"/>
          <p:cNvSpPr>
            <a:spLocks noGrp="1"/>
          </p:cNvSpPr>
          <p:nvPr>
            <p:ph sz="half" idx="1" hasCustomPrompt="1"/>
          </p:nvPr>
        </p:nvSpPr>
        <p:spPr>
          <a:xfrm>
            <a:off x="581193" y="2228003"/>
            <a:ext cx="5422390" cy="3633047"/>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contenu 3"/>
          <p:cNvSpPr>
            <a:spLocks noGrp="1"/>
          </p:cNvSpPr>
          <p:nvPr>
            <p:ph sz="half" idx="2" hasCustomPrompt="1"/>
          </p:nvPr>
        </p:nvSpPr>
        <p:spPr>
          <a:xfrm>
            <a:off x="6188417" y="2228003"/>
            <a:ext cx="5422392" cy="3633047"/>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à la date 4"/>
          <p:cNvSpPr>
            <a:spLocks noGrp="1"/>
          </p:cNvSpPr>
          <p:nvPr>
            <p:ph type="dt" sz="half" idx="10"/>
          </p:nvPr>
        </p:nvSpPr>
        <p:spPr/>
        <p:txBody>
          <a:bodyPr rtlCol="0"/>
          <a:lstStyle/>
          <a:p>
            <a:pPr rtl="0"/>
            <a:fld id="{796B395B-FC0A-4FB9-AB72-5EAD4FFFCBE3}" type="datetime1">
              <a:rPr lang="fr-FR" noProof="0" smtClean="0"/>
              <a:t>25/09/2026</a:t>
            </a:fld>
            <a:endParaRPr lang="fr-FR" noProof="0"/>
          </a:p>
        </p:txBody>
      </p:sp>
      <p:sp>
        <p:nvSpPr>
          <p:cNvPr id="6" name="Espace réservé a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re 1"/>
          <p:cNvSpPr>
            <a:spLocks noGrp="1"/>
          </p:cNvSpPr>
          <p:nvPr>
            <p:ph type="title"/>
          </p:nvPr>
        </p:nvSpPr>
        <p:spPr>
          <a:xfrm>
            <a:off x="581193" y="729658"/>
            <a:ext cx="11029616" cy="988332"/>
          </a:xfrm>
        </p:spPr>
        <p:txBody>
          <a:bodyPr rtlCol="0"/>
          <a:lstStyle/>
          <a:p>
            <a:pPr rtl="0"/>
            <a:r>
              <a:rPr lang="fr-FR" noProof="0"/>
              <a:t>Modifiez le style du titre</a:t>
            </a:r>
          </a:p>
        </p:txBody>
      </p:sp>
      <p:sp>
        <p:nvSpPr>
          <p:cNvPr id="3" name="Espace réservé du texte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4" name="Espace réservé du contenu 3"/>
          <p:cNvSpPr>
            <a:spLocks noGrp="1"/>
          </p:cNvSpPr>
          <p:nvPr>
            <p:ph sz="half" idx="2" hasCustomPrompt="1"/>
          </p:nvPr>
        </p:nvSpPr>
        <p:spPr>
          <a:xfrm>
            <a:off x="581194" y="2926052"/>
            <a:ext cx="5393100" cy="2934999"/>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6" name="Espace réservé du contenu 5"/>
          <p:cNvSpPr>
            <a:spLocks noGrp="1"/>
          </p:cNvSpPr>
          <p:nvPr>
            <p:ph sz="quarter" idx="4" hasCustomPrompt="1"/>
          </p:nvPr>
        </p:nvSpPr>
        <p:spPr>
          <a:xfrm>
            <a:off x="6217709" y="2926052"/>
            <a:ext cx="5393100" cy="2934999"/>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à la date 6"/>
          <p:cNvSpPr>
            <a:spLocks noGrp="1"/>
          </p:cNvSpPr>
          <p:nvPr>
            <p:ph type="dt" sz="half" idx="10"/>
          </p:nvPr>
        </p:nvSpPr>
        <p:spPr/>
        <p:txBody>
          <a:bodyPr rtlCol="0"/>
          <a:lstStyle/>
          <a:p>
            <a:pPr rtl="0"/>
            <a:fld id="{A7201069-9664-47E2-8F0B-1AE85DF9CFA4}" type="datetime1">
              <a:rPr lang="fr-FR" noProof="0" smtClean="0"/>
              <a:t>25/09/2026</a:t>
            </a:fld>
            <a:endParaRPr lang="fr-FR" noProof="0"/>
          </a:p>
        </p:txBody>
      </p:sp>
      <p:sp>
        <p:nvSpPr>
          <p:cNvPr id="8" name="Espace réservé au pied de page 7"/>
          <p:cNvSpPr>
            <a:spLocks noGrp="1"/>
          </p:cNvSpPr>
          <p:nvPr>
            <p:ph type="ftr" sz="quarter" idx="11"/>
          </p:nvPr>
        </p:nvSpPr>
        <p:spPr/>
        <p:txBody>
          <a:bodyPr rtlCol="0"/>
          <a:lstStyle/>
          <a:p>
            <a:pPr rtl="0"/>
            <a:endParaRPr lang="fr-FR" noProof="0"/>
          </a:p>
        </p:txBody>
      </p:sp>
      <p:sp>
        <p:nvSpPr>
          <p:cNvPr id="9" name="Espace réservé du numéro de diapositive 8"/>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3" name="Espace réservé à la date 2"/>
          <p:cNvSpPr>
            <a:spLocks noGrp="1"/>
          </p:cNvSpPr>
          <p:nvPr>
            <p:ph type="dt" sz="half" idx="10"/>
          </p:nvPr>
        </p:nvSpPr>
        <p:spPr/>
        <p:txBody>
          <a:bodyPr rtlCol="0"/>
          <a:lstStyle/>
          <a:p>
            <a:pPr rtl="0"/>
            <a:fld id="{151FAC92-A9AF-4A07-9FBA-F647608AB07B}" type="datetime1">
              <a:rPr lang="fr-FR" noProof="0" smtClean="0"/>
              <a:t>25/09/2026</a:t>
            </a:fld>
            <a:endParaRPr lang="fr-FR" noProof="0"/>
          </a:p>
        </p:txBody>
      </p:sp>
      <p:sp>
        <p:nvSpPr>
          <p:cNvPr id="4" name="Espace réservé a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re 1"/>
          <p:cNvSpPr>
            <a:spLocks noGrp="1"/>
          </p:cNvSpPr>
          <p:nvPr>
            <p:ph type="title"/>
          </p:nvPr>
        </p:nvSpPr>
        <p:spPr>
          <a:xfrm>
            <a:off x="575894" y="729658"/>
            <a:ext cx="11029616" cy="988332"/>
          </a:xfrm>
        </p:spPr>
        <p:txBody>
          <a:bodyPr rtlCol="0"/>
          <a:lstStyle/>
          <a:p>
            <a:pPr rtl="0"/>
            <a:r>
              <a:rPr lang="fr-FR" noProof="0"/>
              <a:t>Modifiez le style du titre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à la date 1"/>
          <p:cNvSpPr>
            <a:spLocks noGrp="1"/>
          </p:cNvSpPr>
          <p:nvPr>
            <p:ph type="dt" sz="half" idx="10"/>
          </p:nvPr>
        </p:nvSpPr>
        <p:spPr/>
        <p:txBody>
          <a:bodyPr rtlCol="0"/>
          <a:lstStyle/>
          <a:p>
            <a:pPr rtl="0"/>
            <a:fld id="{71DB2C01-F30B-4179-BA04-A8ECE0ECC909}" type="datetime1">
              <a:rPr lang="fr-FR" noProof="0" smtClean="0"/>
              <a:t>25/09/2026</a:t>
            </a:fld>
            <a:endParaRPr lang="fr-FR" noProof="0"/>
          </a:p>
        </p:txBody>
      </p:sp>
      <p:sp>
        <p:nvSpPr>
          <p:cNvPr id="3" name="Espace réservé au pied de page 2"/>
          <p:cNvSpPr>
            <a:spLocks noGrp="1"/>
          </p:cNvSpPr>
          <p:nvPr>
            <p:ph type="ftr" sz="quarter" idx="11"/>
          </p:nvPr>
        </p:nvSpPr>
        <p:spPr/>
        <p:txBody>
          <a:bodyPr rtlCol="0"/>
          <a:lstStyle/>
          <a:p>
            <a:pPr rtl="0"/>
            <a:endParaRPr lang="fr-FR" noProof="0"/>
          </a:p>
        </p:txBody>
      </p:sp>
      <p:sp>
        <p:nvSpPr>
          <p:cNvPr id="4" name="Espace réservé du numéro de diapositive 3"/>
          <p:cNvSpPr>
            <a:spLocks noGrp="1"/>
          </p:cNvSpPr>
          <p:nvPr>
            <p:ph type="sldNum" sz="quarter" idx="12"/>
          </p:nvPr>
        </p:nvSpPr>
        <p:spPr/>
        <p:txBody>
          <a:bodyPr rtlCol="0"/>
          <a:lstStyle/>
          <a:p>
            <a:pPr rtl="0"/>
            <a:fld id="{D57F1E4F-1CFF-5643-939E-217C01CDF565}" type="slidenum">
              <a:rPr lang="fr-FR" noProof="0" smtClean="0"/>
              <a:pPr/>
              <a:t>‹N°›</a:t>
            </a:fld>
            <a:endParaRPr lang="fr-FR"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fr-FR" noProof="0"/>
              <a:t>Modifiez le style du titre</a:t>
            </a:r>
          </a:p>
        </p:txBody>
      </p:sp>
      <p:sp>
        <p:nvSpPr>
          <p:cNvPr id="3" name="Espace réservé du contenu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 du masque</a:t>
            </a:r>
          </a:p>
        </p:txBody>
      </p:sp>
      <p:sp>
        <p:nvSpPr>
          <p:cNvPr id="5" name="Espace réservé à la date 4"/>
          <p:cNvSpPr>
            <a:spLocks noGrp="1"/>
          </p:cNvSpPr>
          <p:nvPr>
            <p:ph type="dt" sz="half" idx="10"/>
          </p:nvPr>
        </p:nvSpPr>
        <p:spPr/>
        <p:txBody>
          <a:bodyPr rtlCol="0"/>
          <a:lstStyle>
            <a:lvl1pPr>
              <a:defRPr>
                <a:solidFill>
                  <a:schemeClr val="accent1">
                    <a:lumMod val="75000"/>
                    <a:lumOff val="25000"/>
                  </a:schemeClr>
                </a:solidFill>
              </a:defRPr>
            </a:lvl1pPr>
          </a:lstStyle>
          <a:p>
            <a:pPr rtl="0"/>
            <a:fld id="{EA7744E9-9648-48DA-B33D-2DEAC9192E81}" type="datetime1">
              <a:rPr lang="fr-FR" noProof="0" smtClean="0"/>
              <a:t>25/09/2026</a:t>
            </a:fld>
            <a:endParaRPr lang="fr-FR" noProof="0"/>
          </a:p>
        </p:txBody>
      </p:sp>
      <p:sp>
        <p:nvSpPr>
          <p:cNvPr id="6" name="Espace réservé au pied de page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fr-FR" noProof="0"/>
          </a:p>
        </p:txBody>
      </p:sp>
      <p:sp>
        <p:nvSpPr>
          <p:cNvPr id="7" name="Espace réservé du numéro de diapositive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fr-FR" noProof="0" smtClean="0"/>
              <a:pPr/>
              <a:t>‹N°›</a:t>
            </a:fld>
            <a:endParaRPr lang="fr-FR"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fr-FR" noProof="0"/>
              <a:t>Modifiez le style du titre</a:t>
            </a:r>
          </a:p>
        </p:txBody>
      </p:sp>
      <p:sp>
        <p:nvSpPr>
          <p:cNvPr id="3" name="Espace réservé d’image 2"/>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fr-FR" noProof="0"/>
              <a:t>Cliquez sur l’icône pour ajouter une image</a:t>
            </a:r>
          </a:p>
        </p:txBody>
      </p:sp>
      <p:sp>
        <p:nvSpPr>
          <p:cNvPr id="4" name="Espace réservé du texte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 du masque</a:t>
            </a:r>
          </a:p>
        </p:txBody>
      </p:sp>
      <p:sp>
        <p:nvSpPr>
          <p:cNvPr id="5" name="Espace réservé à la date 4"/>
          <p:cNvSpPr>
            <a:spLocks noGrp="1"/>
          </p:cNvSpPr>
          <p:nvPr>
            <p:ph type="dt" sz="half" idx="10"/>
          </p:nvPr>
        </p:nvSpPr>
        <p:spPr/>
        <p:txBody>
          <a:bodyPr rtlCol="0"/>
          <a:lstStyle/>
          <a:p>
            <a:pPr rtl="0"/>
            <a:fld id="{E780482B-311F-48A8-9A95-A022EF9D97A5}" type="datetime1">
              <a:rPr lang="fr-FR" noProof="0" smtClean="0"/>
              <a:t>25/09/2026</a:t>
            </a:fld>
            <a:endParaRPr lang="fr-FR" noProof="0"/>
          </a:p>
        </p:txBody>
      </p:sp>
      <p:sp>
        <p:nvSpPr>
          <p:cNvPr id="6" name="Espace réservé a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D57F1E4F-1CFF-5643-939E-217C01CDF565}" type="slidenum">
              <a:rPr lang="fr-FR" noProof="0" smtClean="0"/>
              <a:pPr/>
              <a:t>‹N°›</a:t>
            </a:fld>
            <a:endParaRPr lang="fr-FR"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re 1"/>
          <p:cNvSpPr>
            <a:spLocks noGrp="1"/>
          </p:cNvSpPr>
          <p:nvPr>
            <p:ph type="title"/>
          </p:nvPr>
        </p:nvSpPr>
        <p:spPr>
          <a:xfrm>
            <a:off x="581192" y="702156"/>
            <a:ext cx="11029616" cy="1013800"/>
          </a:xfrm>
        </p:spPr>
        <p:txBody>
          <a:bodyPr rtlCol="0"/>
          <a:lstStyle/>
          <a:p>
            <a:pPr rtl="0"/>
            <a:r>
              <a:rPr lang="fr-FR" noProof="0"/>
              <a:t>Modifiez le style du titre</a:t>
            </a:r>
          </a:p>
        </p:txBody>
      </p:sp>
      <p:sp>
        <p:nvSpPr>
          <p:cNvPr id="3" name="Espace réservé au texte vertical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à la date 3"/>
          <p:cNvSpPr>
            <a:spLocks noGrp="1"/>
          </p:cNvSpPr>
          <p:nvPr>
            <p:ph type="dt" sz="half" idx="10"/>
          </p:nvPr>
        </p:nvSpPr>
        <p:spPr/>
        <p:txBody>
          <a:bodyPr rtlCol="0"/>
          <a:lstStyle/>
          <a:p>
            <a:pPr rtl="0"/>
            <a:fld id="{6444B737-BAAB-4FD6-992F-98A387278F79}" type="datetime1">
              <a:rPr lang="fr-FR" noProof="0" smtClean="0"/>
              <a:t>25/09/2026</a:t>
            </a:fld>
            <a:endParaRPr lang="fr-FR" noProof="0"/>
          </a:p>
        </p:txBody>
      </p:sp>
      <p:sp>
        <p:nvSpPr>
          <p:cNvPr id="5" name="Espace réservé a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a:t>‹N°›</a:t>
            </a:fld>
            <a:endParaRPr lang="fr-FR"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vertical 1"/>
          <p:cNvSpPr>
            <a:spLocks noGrp="1"/>
          </p:cNvSpPr>
          <p:nvPr>
            <p:ph type="title" orient="vert"/>
          </p:nvPr>
        </p:nvSpPr>
        <p:spPr>
          <a:xfrm>
            <a:off x="8839201" y="675726"/>
            <a:ext cx="2004164" cy="5183073"/>
          </a:xfrm>
        </p:spPr>
        <p:txBody>
          <a:bodyPr vert="eaVert" rtlCol="0"/>
          <a:lstStyle/>
          <a:p>
            <a:pPr rtl="0"/>
            <a:r>
              <a:rPr lang="fr-FR" noProof="0"/>
              <a:t>Modifiez le style du titre</a:t>
            </a:r>
          </a:p>
        </p:txBody>
      </p:sp>
      <p:sp>
        <p:nvSpPr>
          <p:cNvPr id="3" name="Espace réservé au texte vertical 2"/>
          <p:cNvSpPr>
            <a:spLocks noGrp="1"/>
          </p:cNvSpPr>
          <p:nvPr>
            <p:ph type="body" orient="vert" idx="1" hasCustomPrompt="1"/>
          </p:nvPr>
        </p:nvSpPr>
        <p:spPr>
          <a:xfrm>
            <a:off x="774923" y="675726"/>
            <a:ext cx="7896279" cy="5183073"/>
          </a:xfrm>
        </p:spPr>
        <p:txBody>
          <a:bodyPr vert="eaVert" rtlCol="0" anchor="t"/>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à la date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05F38C2D-E1AD-4379-A5CC-F384D07BF2BA}" type="datetime1">
              <a:rPr lang="fr-FR" noProof="0" smtClean="0"/>
              <a:t>25/09/2026</a:t>
            </a:fld>
            <a:endParaRPr lang="fr-FR" noProof="0"/>
          </a:p>
        </p:txBody>
      </p:sp>
      <p:sp>
        <p:nvSpPr>
          <p:cNvPr id="5" name="Espace réservé du pied de page 4"/>
          <p:cNvSpPr>
            <a:spLocks noGrp="1"/>
          </p:cNvSpPr>
          <p:nvPr>
            <p:ph type="ftr" sz="quarter" idx="11"/>
          </p:nvPr>
        </p:nvSpPr>
        <p:spPr>
          <a:xfrm>
            <a:off x="774923" y="5951811"/>
            <a:ext cx="7896279" cy="365125"/>
          </a:xfrm>
        </p:spPr>
        <p:txBody>
          <a:bodyPr rtlCol="0"/>
          <a:lstStyle/>
          <a:p>
            <a:pPr rtl="0"/>
            <a:endParaRPr lang="fr-FR" noProof="0"/>
          </a:p>
        </p:txBody>
      </p:sp>
      <p:sp>
        <p:nvSpPr>
          <p:cNvPr id="6" name="Espace réservé au numéro de diapositive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au titre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fr-FR" noProof="0"/>
              <a:t>Modifiez le style du titre</a:t>
            </a:r>
          </a:p>
        </p:txBody>
      </p:sp>
      <p:sp>
        <p:nvSpPr>
          <p:cNvPr id="3" name="Espace réservé du texte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4" name="Espace réservé à la date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4B992562-C466-488D-88D1-41F3F31AF337}" type="datetime1">
              <a:rPr lang="fr-FR" noProof="0" smtClean="0"/>
              <a:t>25/09/2026</a:t>
            </a:fld>
            <a:endParaRPr lang="fr-FR" noProof="0"/>
          </a:p>
        </p:txBody>
      </p:sp>
      <p:sp>
        <p:nvSpPr>
          <p:cNvPr id="5" name="Espace réservé du pied de page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fr-FR" noProof="0"/>
          </a:p>
        </p:txBody>
      </p:sp>
      <p:sp>
        <p:nvSpPr>
          <p:cNvPr id="6" name="Espace réservé au numéro de diapositive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fr-FR" noProof="0" smtClean="0"/>
              <a:pPr/>
              <a:t>‹N°›</a:t>
            </a:fld>
            <a:endParaRPr lang="fr-FR" noProof="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image" Target="../media/image4.png"/><Relationship Id="rId5" Type="http://schemas.openxmlformats.org/officeDocument/2006/relationships/diagramLayout" Target="../diagrams/layout1.xml"/><Relationship Id="rId10" Type="http://schemas.openxmlformats.org/officeDocument/2006/relationships/image" Target="../media/image3.png"/><Relationship Id="rId4" Type="http://schemas.openxmlformats.org/officeDocument/2006/relationships/diagramData" Target="../diagrams/data1.xml"/><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11" Type="http://schemas.openxmlformats.org/officeDocument/2006/relationships/image" Target="../media/image4.png"/><Relationship Id="rId5" Type="http://schemas.openxmlformats.org/officeDocument/2006/relationships/diagramLayout" Target="../diagrams/layout2.xml"/><Relationship Id="rId10" Type="http://schemas.openxmlformats.org/officeDocument/2006/relationships/image" Target="../media/image3.png"/><Relationship Id="rId4" Type="http://schemas.openxmlformats.org/officeDocument/2006/relationships/diagramData" Target="../diagrams/data2.xm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5.jpeg"/><Relationship Id="rId7" Type="http://schemas.openxmlformats.org/officeDocument/2006/relationships/diagramColors" Target="../diagrams/colors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3.xml"/><Relationship Id="rId11" Type="http://schemas.openxmlformats.org/officeDocument/2006/relationships/image" Target="../media/image4.png"/><Relationship Id="rId5" Type="http://schemas.openxmlformats.org/officeDocument/2006/relationships/diagramLayout" Target="../diagrams/layout3.xml"/><Relationship Id="rId10" Type="http://schemas.openxmlformats.org/officeDocument/2006/relationships/image" Target="../media/image3.png"/><Relationship Id="rId4" Type="http://schemas.openxmlformats.org/officeDocument/2006/relationships/diagramData" Target="../diagrams/data3.xml"/><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5.jpeg"/><Relationship Id="rId7" Type="http://schemas.openxmlformats.org/officeDocument/2006/relationships/diagramColors" Target="../diagrams/colors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4.xml"/><Relationship Id="rId11" Type="http://schemas.openxmlformats.org/officeDocument/2006/relationships/image" Target="../media/image4.png"/><Relationship Id="rId5" Type="http://schemas.openxmlformats.org/officeDocument/2006/relationships/diagramLayout" Target="../diagrams/layout4.xml"/><Relationship Id="rId10" Type="http://schemas.openxmlformats.org/officeDocument/2006/relationships/image" Target="../media/image3.png"/><Relationship Id="rId4" Type="http://schemas.openxmlformats.org/officeDocument/2006/relationships/diagramData" Target="../diagrams/data4.xml"/><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5.jpeg"/><Relationship Id="rId7" Type="http://schemas.openxmlformats.org/officeDocument/2006/relationships/diagramColors" Target="../diagrams/colors5.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QuickStyle" Target="../diagrams/quickStyle5.xml"/><Relationship Id="rId11" Type="http://schemas.openxmlformats.org/officeDocument/2006/relationships/image" Target="../media/image4.png"/><Relationship Id="rId5" Type="http://schemas.openxmlformats.org/officeDocument/2006/relationships/diagramLayout" Target="../diagrams/layout5.xml"/><Relationship Id="rId10" Type="http://schemas.openxmlformats.org/officeDocument/2006/relationships/image" Target="../media/image3.png"/><Relationship Id="rId4" Type="http://schemas.openxmlformats.org/officeDocument/2006/relationships/diagramData" Target="../diagrams/data5.xml"/><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2.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2.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2.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2.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5.jpeg"/><Relationship Id="rId7" Type="http://schemas.openxmlformats.org/officeDocument/2006/relationships/diagramColors" Target="../diagrams/colors6.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6.xml"/><Relationship Id="rId11" Type="http://schemas.openxmlformats.org/officeDocument/2006/relationships/image" Target="../media/image4.png"/><Relationship Id="rId5" Type="http://schemas.openxmlformats.org/officeDocument/2006/relationships/diagramLayout" Target="../diagrams/layout6.xml"/><Relationship Id="rId10" Type="http://schemas.openxmlformats.org/officeDocument/2006/relationships/image" Target="../media/image3.png"/><Relationship Id="rId4" Type="http://schemas.openxmlformats.org/officeDocument/2006/relationships/diagramData" Target="../diagrams/data6.xml"/><Relationship Id="rId9"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5.jpeg"/><Relationship Id="rId7" Type="http://schemas.openxmlformats.org/officeDocument/2006/relationships/diagramColors" Target="../diagrams/colors7.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QuickStyle" Target="../diagrams/quickStyle7.xml"/><Relationship Id="rId11" Type="http://schemas.openxmlformats.org/officeDocument/2006/relationships/image" Target="../media/image4.png"/><Relationship Id="rId5" Type="http://schemas.openxmlformats.org/officeDocument/2006/relationships/diagramLayout" Target="../diagrams/layout7.xml"/><Relationship Id="rId10" Type="http://schemas.openxmlformats.org/officeDocument/2006/relationships/image" Target="../media/image3.png"/><Relationship Id="rId4" Type="http://schemas.openxmlformats.org/officeDocument/2006/relationships/diagramData" Target="../diagrams/data7.xml"/><Relationship Id="rId9"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5.jpeg"/><Relationship Id="rId7" Type="http://schemas.openxmlformats.org/officeDocument/2006/relationships/diagramColors" Target="../diagrams/colors8.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QuickStyle" Target="../diagrams/quickStyle8.xml"/><Relationship Id="rId11" Type="http://schemas.openxmlformats.org/officeDocument/2006/relationships/image" Target="../media/image4.png"/><Relationship Id="rId5" Type="http://schemas.openxmlformats.org/officeDocument/2006/relationships/diagramLayout" Target="../diagrams/layout8.xml"/><Relationship Id="rId10" Type="http://schemas.openxmlformats.org/officeDocument/2006/relationships/image" Target="../media/image3.png"/><Relationship Id="rId4" Type="http://schemas.openxmlformats.org/officeDocument/2006/relationships/diagramData" Target="../diagrams/data8.xml"/><Relationship Id="rId9"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7" name="Image 6" descr="Connexions numérique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e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3" name="Sous-titre 2">
            <a:extLst>
              <a:ext uri="{FF2B5EF4-FFF2-40B4-BE49-F238E27FC236}">
                <a16:creationId xmlns:a16="http://schemas.microsoft.com/office/drawing/2014/main" id="{48B6CF59-4E5B-494D-A2F7-97ADD01E6497}"/>
              </a:ext>
            </a:extLst>
          </p:cNvPr>
          <p:cNvSpPr>
            <a:spLocks noGrp="1"/>
          </p:cNvSpPr>
          <p:nvPr>
            <p:ph type="subTitle" idx="1"/>
          </p:nvPr>
        </p:nvSpPr>
        <p:spPr>
          <a:xfrm>
            <a:off x="581194" y="4516582"/>
            <a:ext cx="10993546" cy="1892310"/>
          </a:xfrm>
        </p:spPr>
        <p:txBody>
          <a:bodyPr rtlCol="0">
            <a:normAutofit lnSpcReduction="10000"/>
          </a:bodyPr>
          <a:lstStyle/>
          <a:p>
            <a:pPr algn="ctr" rtl="0"/>
            <a:r>
              <a:rPr lang="fr-FR" sz="1800" u="sng" dirty="0" err="1">
                <a:solidFill>
                  <a:schemeClr val="bg1"/>
                </a:solidFill>
              </a:rPr>
              <a:t>Presente</a:t>
            </a:r>
            <a:r>
              <a:rPr lang="fr-FR" sz="1800" u="sng" dirty="0">
                <a:solidFill>
                  <a:schemeClr val="bg1"/>
                </a:solidFill>
              </a:rPr>
              <a:t> par:</a:t>
            </a:r>
          </a:p>
          <a:p>
            <a:pPr algn="ctr" rtl="0"/>
            <a:r>
              <a:rPr lang="fr-FR" sz="1800" b="1" dirty="0">
                <a:solidFill>
                  <a:schemeClr val="bg1"/>
                </a:solidFill>
              </a:rPr>
              <a:t>KITIO NGUETSE AUDREY KARELLE</a:t>
            </a:r>
          </a:p>
          <a:p>
            <a:pPr algn="ctr" rtl="0"/>
            <a:endParaRPr lang="fr-FR" sz="1800" dirty="0">
              <a:solidFill>
                <a:schemeClr val="bg1"/>
              </a:solidFill>
            </a:endParaRPr>
          </a:p>
          <a:p>
            <a:pPr algn="ctr" rtl="0"/>
            <a:r>
              <a:rPr lang="fr-FR" sz="1800" u="sng" dirty="0">
                <a:solidFill>
                  <a:schemeClr val="bg1"/>
                </a:solidFill>
              </a:rPr>
              <a:t>Sous l’encadrement DE:</a:t>
            </a:r>
          </a:p>
          <a:p>
            <a:pPr algn="ctr" rtl="0"/>
            <a:r>
              <a:rPr lang="fr-FR" sz="1800" b="1" dirty="0">
                <a:solidFill>
                  <a:schemeClr val="bg1"/>
                </a:solidFill>
              </a:rPr>
              <a:t>M. KAMDOUM PAULIN</a:t>
            </a:r>
          </a:p>
        </p:txBody>
      </p:sp>
      <p:sp>
        <p:nvSpPr>
          <p:cNvPr id="4" name="Rectangle 3">
            <a:extLst>
              <a:ext uri="{FF2B5EF4-FFF2-40B4-BE49-F238E27FC236}">
                <a16:creationId xmlns:a16="http://schemas.microsoft.com/office/drawing/2014/main" id="{7FF5331A-492B-4799-BA7D-C38A8B779DAC}"/>
              </a:ext>
            </a:extLst>
          </p:cNvPr>
          <p:cNvSpPr/>
          <p:nvPr/>
        </p:nvSpPr>
        <p:spPr>
          <a:xfrm>
            <a:off x="463156" y="1240217"/>
            <a:ext cx="11260667" cy="256770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CM"/>
          </a:p>
        </p:txBody>
      </p:sp>
      <p:sp>
        <p:nvSpPr>
          <p:cNvPr id="6" name="Titre 5">
            <a:extLst>
              <a:ext uri="{FF2B5EF4-FFF2-40B4-BE49-F238E27FC236}">
                <a16:creationId xmlns:a16="http://schemas.microsoft.com/office/drawing/2014/main" id="{34D075E6-24F8-472D-99C8-F9E29E0A895F}"/>
              </a:ext>
            </a:extLst>
          </p:cNvPr>
          <p:cNvSpPr>
            <a:spLocks noGrp="1"/>
          </p:cNvSpPr>
          <p:nvPr>
            <p:ph type="ctrTitle"/>
          </p:nvPr>
        </p:nvSpPr>
        <p:spPr>
          <a:xfrm>
            <a:off x="463156" y="1452211"/>
            <a:ext cx="10993549" cy="2036805"/>
          </a:xfrm>
        </p:spPr>
        <p:txBody>
          <a:bodyPr>
            <a:normAutofit fontScale="90000"/>
          </a:bodyPr>
          <a:lstStyle/>
          <a:p>
            <a:pPr algn="ctr"/>
            <a:r>
              <a:rPr lang="fr-FR" sz="3200" b="1" kern="1200" cap="all" dirty="0">
                <a:solidFill>
                  <a:srgbClr val="FFFFFF"/>
                </a:solidFill>
                <a:effectLst/>
                <a:latin typeface="Gill Sans MT" panose="020B0502020104020203" pitchFamily="34" charset="0"/>
                <a:ea typeface="+mj-ea"/>
                <a:cs typeface="+mj-cs"/>
              </a:rPr>
              <a:t>Optimisation du routage BGP pour le </a:t>
            </a:r>
            <a:r>
              <a:rPr lang="fr-FR" sz="3200" b="1" kern="1200" cap="all" dirty="0" err="1">
                <a:solidFill>
                  <a:srgbClr val="FFFFFF"/>
                </a:solidFill>
                <a:effectLst/>
                <a:latin typeface="Gill Sans MT" panose="020B0502020104020203" pitchFamily="34" charset="0"/>
                <a:ea typeface="+mj-ea"/>
                <a:cs typeface="+mj-cs"/>
              </a:rPr>
              <a:t>peering</a:t>
            </a:r>
            <a:r>
              <a:rPr lang="fr-FR" sz="3200" b="1" kern="1200" cap="all" dirty="0">
                <a:solidFill>
                  <a:srgbClr val="FFFFFF"/>
                </a:solidFill>
                <a:effectLst/>
                <a:latin typeface="Gill Sans MT" panose="020B0502020104020203" pitchFamily="34" charset="0"/>
                <a:ea typeface="+mj-ea"/>
                <a:cs typeface="+mj-cs"/>
              </a:rPr>
              <a:t> entre FAI et</a:t>
            </a:r>
            <a:br>
              <a:rPr lang="fr-FR" sz="3200" b="1" kern="1200" cap="all" dirty="0">
                <a:solidFill>
                  <a:srgbClr val="FFFFFF"/>
                </a:solidFill>
                <a:effectLst/>
                <a:latin typeface="Gill Sans MT" panose="020B0502020104020203" pitchFamily="34" charset="0"/>
                <a:ea typeface="+mj-ea"/>
                <a:cs typeface="+mj-cs"/>
              </a:rPr>
            </a:br>
            <a:r>
              <a:rPr lang="fr-FR" sz="3200" b="1" kern="1200" cap="all" dirty="0">
                <a:solidFill>
                  <a:srgbClr val="FFFFFF"/>
                </a:solidFill>
                <a:effectLst/>
                <a:latin typeface="Gill Sans MT" panose="020B0502020104020203" pitchFamily="34" charset="0"/>
                <a:ea typeface="+mj-ea"/>
                <a:cs typeface="+mj-cs"/>
              </a:rPr>
              <a:t>fournisseurs de contenu (CDN) : Cas de PRESTABIST</a:t>
            </a:r>
            <a:endParaRPr lang="fr-CM" sz="5400" b="1" dirty="0"/>
          </a:p>
        </p:txBody>
      </p:sp>
      <p:pic>
        <p:nvPicPr>
          <p:cNvPr id="11" name="Image 10">
            <a:extLst>
              <a:ext uri="{FF2B5EF4-FFF2-40B4-BE49-F238E27FC236}">
                <a16:creationId xmlns:a16="http://schemas.microsoft.com/office/drawing/2014/main" id="{13334487-2BD4-4D3F-AA4C-B1641CF2C2B8}"/>
              </a:ext>
            </a:extLst>
          </p:cNvPr>
          <p:cNvPicPr>
            <a:picLocks noChangeAspect="1"/>
          </p:cNvPicPr>
          <p:nvPr/>
        </p:nvPicPr>
        <p:blipFill>
          <a:blip r:embed="rId4"/>
          <a:stretch>
            <a:fillRect/>
          </a:stretch>
        </p:blipFill>
        <p:spPr>
          <a:xfrm>
            <a:off x="64863" y="53176"/>
            <a:ext cx="1032661" cy="1030725"/>
          </a:xfrm>
          <a:prstGeom prst="rect">
            <a:avLst/>
          </a:prstGeom>
        </p:spPr>
      </p:pic>
      <p:pic>
        <p:nvPicPr>
          <p:cNvPr id="13" name="Image 12">
            <a:extLst>
              <a:ext uri="{FF2B5EF4-FFF2-40B4-BE49-F238E27FC236}">
                <a16:creationId xmlns:a16="http://schemas.microsoft.com/office/drawing/2014/main" id="{2B1E3D80-F759-447B-BC59-8F88184F94F1}"/>
              </a:ext>
            </a:extLst>
          </p:cNvPr>
          <p:cNvPicPr>
            <a:picLocks noChangeAspect="1"/>
          </p:cNvPicPr>
          <p:nvPr/>
        </p:nvPicPr>
        <p:blipFill>
          <a:blip r:embed="rId5"/>
          <a:stretch>
            <a:fillRect/>
          </a:stretch>
        </p:blipFill>
        <p:spPr>
          <a:xfrm>
            <a:off x="1097524" y="127962"/>
            <a:ext cx="1294589" cy="1093927"/>
          </a:xfrm>
          <a:prstGeom prst="rect">
            <a:avLst/>
          </a:prstGeom>
        </p:spPr>
      </p:pic>
      <p:pic>
        <p:nvPicPr>
          <p:cNvPr id="16" name="Image 15">
            <a:extLst>
              <a:ext uri="{FF2B5EF4-FFF2-40B4-BE49-F238E27FC236}">
                <a16:creationId xmlns:a16="http://schemas.microsoft.com/office/drawing/2014/main" id="{2A9DB0B5-A203-4821-864E-E297420C04C0}"/>
              </a:ext>
            </a:extLst>
          </p:cNvPr>
          <p:cNvPicPr>
            <a:picLocks noChangeAspect="1"/>
          </p:cNvPicPr>
          <p:nvPr/>
        </p:nvPicPr>
        <p:blipFill>
          <a:blip r:embed="rId6"/>
          <a:stretch>
            <a:fillRect/>
          </a:stretch>
        </p:blipFill>
        <p:spPr>
          <a:xfrm>
            <a:off x="10238446" y="-24795"/>
            <a:ext cx="1914525" cy="923925"/>
          </a:xfrm>
          <a:prstGeom prst="rect">
            <a:avLst/>
          </a:prstGeom>
        </p:spPr>
      </p:pic>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pic>
        <p:nvPicPr>
          <p:cNvPr id="8" name="Espace réservé au contenu 4" descr="Valeurs numériqu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oupe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re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rtlCol="0" anchor="ctr">
            <a:normAutofit/>
          </a:bodyPr>
          <a:lstStyle/>
          <a:p>
            <a:pPr algn="ctr" rtl="0"/>
            <a:r>
              <a:rPr lang="fr-FR" b="1" u="sng" dirty="0" err="1"/>
              <a:t>PlaN</a:t>
            </a:r>
            <a:r>
              <a:rPr lang="fr-FR" b="1" u="sng" dirty="0"/>
              <a:t> de </a:t>
            </a:r>
            <a:r>
              <a:rPr lang="fr-FR" b="1" u="sng" dirty="0" err="1"/>
              <a:t>presentation</a:t>
            </a:r>
            <a:endParaRPr lang="fr-FR" b="1" u="sng" dirty="0"/>
          </a:p>
        </p:txBody>
      </p:sp>
      <p:graphicFrame>
        <p:nvGraphicFramePr>
          <p:cNvPr id="6" name="Espace réservé au contenu 5" descr="Graphique 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337343478"/>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Image 9">
            <a:extLst>
              <a:ext uri="{FF2B5EF4-FFF2-40B4-BE49-F238E27FC236}">
                <a16:creationId xmlns:a16="http://schemas.microsoft.com/office/drawing/2014/main" id="{48BF8250-294D-4827-8A0B-B46A16C97F25}"/>
              </a:ext>
            </a:extLst>
          </p:cNvPr>
          <p:cNvPicPr>
            <a:picLocks noChangeAspect="1"/>
          </p:cNvPicPr>
          <p:nvPr/>
        </p:nvPicPr>
        <p:blipFill>
          <a:blip r:embed="rId9"/>
          <a:stretch>
            <a:fillRect/>
          </a:stretch>
        </p:blipFill>
        <p:spPr>
          <a:xfrm>
            <a:off x="64863" y="53176"/>
            <a:ext cx="1032661" cy="1030725"/>
          </a:xfrm>
          <a:prstGeom prst="rect">
            <a:avLst/>
          </a:prstGeom>
        </p:spPr>
      </p:pic>
      <p:pic>
        <p:nvPicPr>
          <p:cNvPr id="11" name="Image 10">
            <a:extLst>
              <a:ext uri="{FF2B5EF4-FFF2-40B4-BE49-F238E27FC236}">
                <a16:creationId xmlns:a16="http://schemas.microsoft.com/office/drawing/2014/main" id="{5E5198CE-DAFD-4E08-A881-B61E690926FE}"/>
              </a:ext>
            </a:extLst>
          </p:cNvPr>
          <p:cNvPicPr>
            <a:picLocks noChangeAspect="1"/>
          </p:cNvPicPr>
          <p:nvPr/>
        </p:nvPicPr>
        <p:blipFill>
          <a:blip r:embed="rId10"/>
          <a:stretch>
            <a:fillRect/>
          </a:stretch>
        </p:blipFill>
        <p:spPr>
          <a:xfrm>
            <a:off x="1097524" y="127962"/>
            <a:ext cx="1294589" cy="1093927"/>
          </a:xfrm>
          <a:prstGeom prst="rect">
            <a:avLst/>
          </a:prstGeom>
        </p:spPr>
      </p:pic>
      <p:pic>
        <p:nvPicPr>
          <p:cNvPr id="12" name="Image 11">
            <a:extLst>
              <a:ext uri="{FF2B5EF4-FFF2-40B4-BE49-F238E27FC236}">
                <a16:creationId xmlns:a16="http://schemas.microsoft.com/office/drawing/2014/main" id="{FAA5C716-CB73-4951-A3DD-AEAAFC598B15}"/>
              </a:ext>
            </a:extLst>
          </p:cNvPr>
          <p:cNvPicPr>
            <a:picLocks noChangeAspect="1"/>
          </p:cNvPicPr>
          <p:nvPr/>
        </p:nvPicPr>
        <p:blipFill>
          <a:blip r:embed="rId11"/>
          <a:stretch>
            <a:fillRect/>
          </a:stretch>
        </p:blipFill>
        <p:spPr>
          <a:xfrm>
            <a:off x="10238446" y="-24795"/>
            <a:ext cx="1914525" cy="923925"/>
          </a:xfrm>
          <a:prstGeom prst="rect">
            <a:avLst/>
          </a:prstGeom>
        </p:spPr>
      </p:pic>
      <p:pic>
        <p:nvPicPr>
          <p:cNvPr id="14" name="Image 13">
            <a:extLst>
              <a:ext uri="{FF2B5EF4-FFF2-40B4-BE49-F238E27FC236}">
                <a16:creationId xmlns:a16="http://schemas.microsoft.com/office/drawing/2014/main" id="{C275DDA1-2097-42A2-BDA5-ADBA55DBD847}"/>
              </a:ext>
            </a:extLst>
          </p:cNvPr>
          <p:cNvPicPr>
            <a:picLocks noChangeAspect="1"/>
          </p:cNvPicPr>
          <p:nvPr/>
        </p:nvPicPr>
        <p:blipFill>
          <a:blip r:embed="rId9"/>
          <a:stretch>
            <a:fillRect/>
          </a:stretch>
        </p:blipFill>
        <p:spPr>
          <a:xfrm>
            <a:off x="64863" y="25467"/>
            <a:ext cx="1032661" cy="1030725"/>
          </a:xfrm>
          <a:prstGeom prst="rect">
            <a:avLst/>
          </a:prstGeom>
        </p:spPr>
      </p:pic>
    </p:spTree>
    <p:extLst>
      <p:ext uri="{BB962C8B-B14F-4D97-AF65-F5344CB8AC3E}">
        <p14:creationId xmlns:p14="http://schemas.microsoft.com/office/powerpoint/2010/main" val="420932200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au contenu 4" descr="Valeurs numériqu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aphicFrame>
        <p:nvGraphicFramePr>
          <p:cNvPr id="6" name="Espace réservé au contenu 5" descr="Graphique 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2055011079"/>
              </p:ext>
            </p:extLst>
          </p:nvPr>
        </p:nvGraphicFramePr>
        <p:xfrm>
          <a:off x="719570" y="2198254"/>
          <a:ext cx="7713229"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Image 9">
            <a:extLst>
              <a:ext uri="{FF2B5EF4-FFF2-40B4-BE49-F238E27FC236}">
                <a16:creationId xmlns:a16="http://schemas.microsoft.com/office/drawing/2014/main" id="{48BF8250-294D-4827-8A0B-B46A16C97F25}"/>
              </a:ext>
            </a:extLst>
          </p:cNvPr>
          <p:cNvPicPr>
            <a:picLocks noChangeAspect="1"/>
          </p:cNvPicPr>
          <p:nvPr/>
        </p:nvPicPr>
        <p:blipFill>
          <a:blip r:embed="rId9"/>
          <a:stretch>
            <a:fillRect/>
          </a:stretch>
        </p:blipFill>
        <p:spPr>
          <a:xfrm>
            <a:off x="64863" y="53176"/>
            <a:ext cx="1032661" cy="1030725"/>
          </a:xfrm>
          <a:prstGeom prst="rect">
            <a:avLst/>
          </a:prstGeom>
        </p:spPr>
      </p:pic>
      <p:pic>
        <p:nvPicPr>
          <p:cNvPr id="11" name="Image 10">
            <a:extLst>
              <a:ext uri="{FF2B5EF4-FFF2-40B4-BE49-F238E27FC236}">
                <a16:creationId xmlns:a16="http://schemas.microsoft.com/office/drawing/2014/main" id="{5E5198CE-DAFD-4E08-A881-B61E690926FE}"/>
              </a:ext>
            </a:extLst>
          </p:cNvPr>
          <p:cNvPicPr>
            <a:picLocks noChangeAspect="1"/>
          </p:cNvPicPr>
          <p:nvPr/>
        </p:nvPicPr>
        <p:blipFill>
          <a:blip r:embed="rId10"/>
          <a:stretch>
            <a:fillRect/>
          </a:stretch>
        </p:blipFill>
        <p:spPr>
          <a:xfrm>
            <a:off x="1097524" y="127962"/>
            <a:ext cx="1294589" cy="1093927"/>
          </a:xfrm>
          <a:prstGeom prst="rect">
            <a:avLst/>
          </a:prstGeom>
        </p:spPr>
      </p:pic>
      <p:pic>
        <p:nvPicPr>
          <p:cNvPr id="12" name="Image 11">
            <a:extLst>
              <a:ext uri="{FF2B5EF4-FFF2-40B4-BE49-F238E27FC236}">
                <a16:creationId xmlns:a16="http://schemas.microsoft.com/office/drawing/2014/main" id="{FAA5C716-CB73-4951-A3DD-AEAAFC598B15}"/>
              </a:ext>
            </a:extLst>
          </p:cNvPr>
          <p:cNvPicPr>
            <a:picLocks noChangeAspect="1"/>
          </p:cNvPicPr>
          <p:nvPr/>
        </p:nvPicPr>
        <p:blipFill>
          <a:blip r:embed="rId11"/>
          <a:stretch>
            <a:fillRect/>
          </a:stretch>
        </p:blipFill>
        <p:spPr>
          <a:xfrm>
            <a:off x="10238446" y="-24795"/>
            <a:ext cx="1914525" cy="923925"/>
          </a:xfrm>
          <a:prstGeom prst="rect">
            <a:avLst/>
          </a:prstGeom>
        </p:spPr>
      </p:pic>
      <p:pic>
        <p:nvPicPr>
          <p:cNvPr id="14" name="Image 13">
            <a:extLst>
              <a:ext uri="{FF2B5EF4-FFF2-40B4-BE49-F238E27FC236}">
                <a16:creationId xmlns:a16="http://schemas.microsoft.com/office/drawing/2014/main" id="{C275DDA1-2097-42A2-BDA5-ADBA55DBD847}"/>
              </a:ext>
            </a:extLst>
          </p:cNvPr>
          <p:cNvPicPr>
            <a:picLocks noChangeAspect="1"/>
          </p:cNvPicPr>
          <p:nvPr/>
        </p:nvPicPr>
        <p:blipFill>
          <a:blip r:embed="rId9"/>
          <a:stretch>
            <a:fillRect/>
          </a:stretch>
        </p:blipFill>
        <p:spPr>
          <a:xfrm>
            <a:off x="64863" y="25467"/>
            <a:ext cx="1032661" cy="1030725"/>
          </a:xfrm>
          <a:prstGeom prst="rect">
            <a:avLst/>
          </a:prstGeom>
        </p:spPr>
      </p:pic>
    </p:spTree>
    <p:extLst>
      <p:ext uri="{BB962C8B-B14F-4D97-AF65-F5344CB8AC3E}">
        <p14:creationId xmlns:p14="http://schemas.microsoft.com/office/powerpoint/2010/main" val="943079409"/>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1.1- Contexte générale</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581193" y="2133600"/>
            <a:ext cx="11029616" cy="3785652"/>
          </a:xfrm>
          <a:prstGeom prst="rect">
            <a:avLst/>
          </a:prstGeom>
          <a:noFill/>
        </p:spPr>
        <p:txBody>
          <a:bodyPr wrap="square" rtlCol="0">
            <a:spAutoFit/>
          </a:bodyPr>
          <a:lstStyle/>
          <a:p>
            <a:pPr algn="just" rtl="0"/>
            <a:r>
              <a:rPr lang="fr-FR" sz="2000" dirty="0"/>
              <a:t>Le trafic Internet mondial est aujourd'hui dominé par les contenus multimédias, vidéo, streaming, applications cloud, majoritairement hébergés et diffusés par de grands </a:t>
            </a:r>
            <a:r>
              <a:rPr lang="fr-FR" sz="2000" b="1" dirty="0"/>
              <a:t>fournisseurs de contenu (CDN)</a:t>
            </a:r>
            <a:r>
              <a:rPr lang="fr-FR" sz="2000" dirty="0"/>
              <a:t> tels que Google ou </a:t>
            </a:r>
            <a:r>
              <a:rPr lang="fr-FR" sz="2000" dirty="0" err="1"/>
              <a:t>Cloudflare</a:t>
            </a:r>
            <a:r>
              <a:rPr lang="fr-FR" sz="2000" dirty="0"/>
              <a:t>. Pour un </a:t>
            </a:r>
            <a:r>
              <a:rPr lang="fr-FR" sz="2000" b="1" dirty="0"/>
              <a:t>Fournisseur d'Accès à Internet (FAI)</a:t>
            </a:r>
            <a:r>
              <a:rPr lang="fr-FR" sz="2000" dirty="0"/>
              <a:t>, la qualité perçue par ses abonnés dépend directement de la manière dont il gère ses interconnexions avec ces</a:t>
            </a:r>
          </a:p>
          <a:p>
            <a:pPr rtl="0"/>
            <a:r>
              <a:rPr lang="fr-FR" sz="2000" dirty="0"/>
              <a:t> acteurs et avec ses fournisseurs de transit.</a:t>
            </a:r>
            <a:br>
              <a:rPr lang="fr-FR" sz="2000" dirty="0"/>
            </a:br>
            <a:endParaRPr lang="fr-FR" sz="2000" dirty="0"/>
          </a:p>
          <a:p>
            <a:pPr algn="just" rtl="0"/>
            <a:r>
              <a:rPr lang="fr-FR" sz="2000" dirty="0"/>
              <a:t>Un FAI dispose généralement de plusieurs liaisons vers Internet (opérateurs de transit, </a:t>
            </a:r>
            <a:r>
              <a:rPr lang="fr-FR" sz="2000" dirty="0" err="1"/>
              <a:t>peering</a:t>
            </a:r>
            <a:r>
              <a:rPr lang="fr-FR" sz="2000" dirty="0"/>
              <a:t> direct) de capacités différentes. Sans une politique de routage rigoureuse, ces liaisons sont mal exploitées : trafic mal réparti, temps de coupure importants en cas de panne, et latence dégradée vers les contenus. C'est précisément cette problématique, rencontrée par un FAI partenaire durant notre stage, qui constitue le socle de ce travail.</a:t>
            </a:r>
          </a:p>
          <a:p>
            <a:pPr algn="just"/>
            <a:endParaRPr lang="fr-CM" sz="2000" dirty="0"/>
          </a:p>
        </p:txBody>
      </p:sp>
    </p:spTree>
    <p:extLst>
      <p:ext uri="{BB962C8B-B14F-4D97-AF65-F5344CB8AC3E}">
        <p14:creationId xmlns:p14="http://schemas.microsoft.com/office/powerpoint/2010/main" val="49760754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1.2- PROBLEMATIQUE</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33593" y="3200400"/>
            <a:ext cx="11029616" cy="1200329"/>
          </a:xfrm>
          <a:prstGeom prst="rect">
            <a:avLst/>
          </a:prstGeom>
          <a:noFill/>
        </p:spPr>
        <p:txBody>
          <a:bodyPr wrap="square" rtlCol="0">
            <a:spAutoFit/>
          </a:bodyPr>
          <a:lstStyle/>
          <a:p>
            <a:pPr algn="just"/>
            <a:r>
              <a:rPr lang="fr-FR" sz="2400" b="1" dirty="0"/>
              <a:t>Comment concevoir et déployer une stratégie d'ingénierie de trafic BGP capable d'optimiser le </a:t>
            </a:r>
            <a:r>
              <a:rPr lang="fr-FR" sz="2400" b="1" dirty="0" err="1"/>
              <a:t>peering</a:t>
            </a:r>
            <a:r>
              <a:rPr lang="fr-FR" sz="2400" b="1" dirty="0"/>
              <a:t> FAI-CDN, de fiabiliser les services et de rendre disponibles les ressources de l'opérateur ?</a:t>
            </a:r>
            <a:endParaRPr lang="fr-CM" sz="2400" b="1" dirty="0"/>
          </a:p>
        </p:txBody>
      </p:sp>
    </p:spTree>
    <p:extLst>
      <p:ext uri="{BB962C8B-B14F-4D97-AF65-F5344CB8AC3E}">
        <p14:creationId xmlns:p14="http://schemas.microsoft.com/office/powerpoint/2010/main" val="26095393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1.3- OBJECTIFS</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581193" y="2133600"/>
            <a:ext cx="11029616" cy="3046988"/>
          </a:xfrm>
          <a:prstGeom prst="rect">
            <a:avLst/>
          </a:prstGeom>
          <a:noFill/>
        </p:spPr>
        <p:txBody>
          <a:bodyPr wrap="square" rtlCol="0">
            <a:spAutoFit/>
          </a:bodyPr>
          <a:lstStyle/>
          <a:p>
            <a:pPr algn="just"/>
            <a:r>
              <a:rPr lang="fr-FR" sz="2400" dirty="0"/>
              <a:t>Concevoir et évaluer une stratégie d'optimisation du protocole Border Gateway Protocol (BGP) afin d'améliorer les performances du </a:t>
            </a:r>
            <a:r>
              <a:rPr lang="fr-FR" sz="2400" dirty="0" err="1"/>
              <a:t>peering</a:t>
            </a:r>
            <a:r>
              <a:rPr lang="fr-FR" sz="2400" dirty="0"/>
              <a:t> entre un Fournisseur d'Accès à Internet (FAI) et un Content Delivery Network (CDN), en :</a:t>
            </a:r>
            <a:br>
              <a:rPr lang="fr-FR" sz="2400" dirty="0"/>
            </a:br>
            <a:endParaRPr lang="fr-FR" sz="2400" dirty="0"/>
          </a:p>
          <a:p>
            <a:pPr marL="342900" indent="-342900" algn="just">
              <a:buFont typeface="Arial" panose="020B0604020202020204" pitchFamily="34" charset="0"/>
              <a:buChar char="•"/>
            </a:pPr>
            <a:r>
              <a:rPr lang="fr-FR" sz="2400" dirty="0"/>
              <a:t>Réduisant la latence</a:t>
            </a:r>
          </a:p>
          <a:p>
            <a:pPr marL="342900" indent="-342900" algn="just">
              <a:buFont typeface="Arial" panose="020B0604020202020204" pitchFamily="34" charset="0"/>
              <a:buChar char="•"/>
            </a:pPr>
            <a:r>
              <a:rPr lang="fr-FR" sz="2400" dirty="0"/>
              <a:t>Optimisant les chemins de routage</a:t>
            </a:r>
          </a:p>
          <a:p>
            <a:pPr marL="342900" indent="-342900" algn="just">
              <a:buFont typeface="Arial" panose="020B0604020202020204" pitchFamily="34" charset="0"/>
              <a:buChar char="•"/>
            </a:pPr>
            <a:r>
              <a:rPr lang="fr-FR" sz="2400" dirty="0"/>
              <a:t>Améliorant la disponibilité des services</a:t>
            </a:r>
          </a:p>
          <a:p>
            <a:pPr marL="342900" indent="-342900" algn="just">
              <a:buFont typeface="Arial" panose="020B0604020202020204" pitchFamily="34" charset="0"/>
              <a:buChar char="•"/>
            </a:pPr>
            <a:r>
              <a:rPr lang="fr-FR" sz="2400" dirty="0"/>
              <a:t>Optimisant l'utilisation des ressources réseau</a:t>
            </a:r>
            <a:endParaRPr lang="fr-CM" sz="2400" dirty="0"/>
          </a:p>
        </p:txBody>
      </p:sp>
    </p:spTree>
    <p:extLst>
      <p:ext uri="{BB962C8B-B14F-4D97-AF65-F5344CB8AC3E}">
        <p14:creationId xmlns:p14="http://schemas.microsoft.com/office/powerpoint/2010/main" val="386566762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1.4- DEFINITIONS DES TERMES CLES</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311832" y="1823585"/>
            <a:ext cx="11568335" cy="5047536"/>
          </a:xfrm>
          <a:prstGeom prst="rect">
            <a:avLst/>
          </a:prstGeom>
          <a:noFill/>
        </p:spPr>
        <p:txBody>
          <a:bodyPr wrap="square" rtlCol="0">
            <a:spAutoFit/>
          </a:bodyPr>
          <a:lstStyle/>
          <a:p>
            <a:pPr marL="342900" indent="-342900" rtl="0">
              <a:buFont typeface="Wingdings" panose="05000000000000000000" pitchFamily="2" charset="2"/>
              <a:buChar char="Ø"/>
            </a:pPr>
            <a:r>
              <a:rPr lang="fr-FR" sz="2300" b="1" dirty="0"/>
              <a:t>BGP (Border Gateway Protocol) </a:t>
            </a:r>
            <a:r>
              <a:rPr lang="fr-FR" sz="2300" dirty="0"/>
              <a:t>: protocole qui gère l'échange de routage entre Systèmes Autonomes (AS) sur Internet.</a:t>
            </a:r>
            <a:br>
              <a:rPr lang="fr-FR" sz="2300" dirty="0"/>
            </a:br>
            <a:endParaRPr lang="fr-FR" sz="2300" dirty="0"/>
          </a:p>
          <a:p>
            <a:pPr marL="342900" indent="-342900" rtl="0">
              <a:buFont typeface="Wingdings" panose="05000000000000000000" pitchFamily="2" charset="2"/>
              <a:buChar char="Ø"/>
            </a:pPr>
            <a:r>
              <a:rPr lang="fr-FR" sz="2300" b="1" dirty="0"/>
              <a:t>Système Autonome (AS) </a:t>
            </a:r>
            <a:r>
              <a:rPr lang="fr-FR" sz="2300" dirty="0"/>
              <a:t>: ensemble de réseaux sous une administration unique, identifié par un numéro unique sur Internet.</a:t>
            </a:r>
            <a:br>
              <a:rPr lang="fr-FR" sz="2300" dirty="0"/>
            </a:br>
            <a:endParaRPr lang="fr-FR" sz="2300" dirty="0"/>
          </a:p>
          <a:p>
            <a:pPr marL="342900" indent="-342900" rtl="0">
              <a:buFont typeface="Wingdings" panose="05000000000000000000" pitchFamily="2" charset="2"/>
              <a:buChar char="Ø"/>
            </a:pPr>
            <a:r>
              <a:rPr lang="fr-FR" sz="2300" b="1" dirty="0" err="1"/>
              <a:t>Peering</a:t>
            </a:r>
            <a:r>
              <a:rPr lang="fr-FR" sz="2300" b="1" dirty="0"/>
              <a:t> </a:t>
            </a:r>
            <a:r>
              <a:rPr lang="fr-FR" sz="2300" dirty="0"/>
              <a:t>: interconnexion directe entre deux réseaux permettant l'échange de trafic, sans tiers payant.</a:t>
            </a:r>
            <a:br>
              <a:rPr lang="fr-FR" sz="2300" dirty="0"/>
            </a:br>
            <a:endParaRPr lang="fr-FR" sz="2300" dirty="0"/>
          </a:p>
          <a:p>
            <a:pPr marL="342900" indent="-342900" rtl="0">
              <a:buFont typeface="Wingdings" panose="05000000000000000000" pitchFamily="2" charset="2"/>
              <a:buChar char="Ø"/>
            </a:pPr>
            <a:r>
              <a:rPr lang="fr-FR" sz="2300" b="1" dirty="0"/>
              <a:t>Transit</a:t>
            </a:r>
            <a:r>
              <a:rPr lang="fr-FR" sz="2300" dirty="0"/>
              <a:t> : service payant par lequel un opérateur achemine le trafic d'un client vers l'ensemble d'Internet.</a:t>
            </a:r>
            <a:br>
              <a:rPr lang="fr-FR" sz="2300" dirty="0"/>
            </a:br>
            <a:endParaRPr lang="fr-FR" sz="2300" dirty="0"/>
          </a:p>
          <a:p>
            <a:pPr marL="342900" indent="-342900" rtl="0">
              <a:buFont typeface="Wingdings" panose="05000000000000000000" pitchFamily="2" charset="2"/>
              <a:buChar char="Ø"/>
            </a:pPr>
            <a:r>
              <a:rPr lang="fr-FR" sz="2300" b="1" dirty="0"/>
              <a:t>CDN (Content Delivery Network) </a:t>
            </a:r>
            <a:r>
              <a:rPr lang="fr-FR" sz="2300" dirty="0"/>
              <a:t>: réseau de serveurs de contenu répartis géographiquement, rapprochant les données des utilisateurs finaux pour réduire la latence.</a:t>
            </a:r>
            <a:endParaRPr lang="fr-CM" sz="2300" dirty="0"/>
          </a:p>
        </p:txBody>
      </p:sp>
    </p:spTree>
    <p:extLst>
      <p:ext uri="{BB962C8B-B14F-4D97-AF65-F5344CB8AC3E}">
        <p14:creationId xmlns:p14="http://schemas.microsoft.com/office/powerpoint/2010/main" val="21323874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3">
                                            <p:txEl>
                                              <p:pRg st="4" end="4"/>
                                            </p:txEl>
                                          </p:spTgt>
                                        </p:tgtEl>
                                        <p:attrNameLst>
                                          <p:attrName>style.visibility</p:attrName>
                                        </p:attrNameLst>
                                      </p:cBhvr>
                                      <p:to>
                                        <p:strVal val="visible"/>
                                      </p:to>
                                    </p:set>
                                    <p:anim calcmode="lin" valueType="num">
                                      <p:cBhvr additive="base">
                                        <p:cTn id="31" dur="500" fill="hold"/>
                                        <p:tgtEl>
                                          <p:spTgt spid="1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au contenu 4" descr="Valeurs numériqu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aphicFrame>
        <p:nvGraphicFramePr>
          <p:cNvPr id="6" name="Espace réservé au contenu 5" descr="Graphique 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925849438"/>
              </p:ext>
            </p:extLst>
          </p:nvPr>
        </p:nvGraphicFramePr>
        <p:xfrm>
          <a:off x="719570" y="2319866"/>
          <a:ext cx="8458297" cy="34423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Image 9">
            <a:extLst>
              <a:ext uri="{FF2B5EF4-FFF2-40B4-BE49-F238E27FC236}">
                <a16:creationId xmlns:a16="http://schemas.microsoft.com/office/drawing/2014/main" id="{48BF8250-294D-4827-8A0B-B46A16C97F25}"/>
              </a:ext>
            </a:extLst>
          </p:cNvPr>
          <p:cNvPicPr>
            <a:picLocks noChangeAspect="1"/>
          </p:cNvPicPr>
          <p:nvPr/>
        </p:nvPicPr>
        <p:blipFill>
          <a:blip r:embed="rId9"/>
          <a:stretch>
            <a:fillRect/>
          </a:stretch>
        </p:blipFill>
        <p:spPr>
          <a:xfrm>
            <a:off x="64863" y="53176"/>
            <a:ext cx="1032661" cy="1030725"/>
          </a:xfrm>
          <a:prstGeom prst="rect">
            <a:avLst/>
          </a:prstGeom>
        </p:spPr>
      </p:pic>
      <p:pic>
        <p:nvPicPr>
          <p:cNvPr id="11" name="Image 10">
            <a:extLst>
              <a:ext uri="{FF2B5EF4-FFF2-40B4-BE49-F238E27FC236}">
                <a16:creationId xmlns:a16="http://schemas.microsoft.com/office/drawing/2014/main" id="{5E5198CE-DAFD-4E08-A881-B61E690926FE}"/>
              </a:ext>
            </a:extLst>
          </p:cNvPr>
          <p:cNvPicPr>
            <a:picLocks noChangeAspect="1"/>
          </p:cNvPicPr>
          <p:nvPr/>
        </p:nvPicPr>
        <p:blipFill>
          <a:blip r:embed="rId10"/>
          <a:stretch>
            <a:fillRect/>
          </a:stretch>
        </p:blipFill>
        <p:spPr>
          <a:xfrm>
            <a:off x="1097524" y="127962"/>
            <a:ext cx="1294589" cy="1093927"/>
          </a:xfrm>
          <a:prstGeom prst="rect">
            <a:avLst/>
          </a:prstGeom>
        </p:spPr>
      </p:pic>
      <p:pic>
        <p:nvPicPr>
          <p:cNvPr id="12" name="Image 11">
            <a:extLst>
              <a:ext uri="{FF2B5EF4-FFF2-40B4-BE49-F238E27FC236}">
                <a16:creationId xmlns:a16="http://schemas.microsoft.com/office/drawing/2014/main" id="{FAA5C716-CB73-4951-A3DD-AEAAFC598B15}"/>
              </a:ext>
            </a:extLst>
          </p:cNvPr>
          <p:cNvPicPr>
            <a:picLocks noChangeAspect="1"/>
          </p:cNvPicPr>
          <p:nvPr/>
        </p:nvPicPr>
        <p:blipFill>
          <a:blip r:embed="rId11"/>
          <a:stretch>
            <a:fillRect/>
          </a:stretch>
        </p:blipFill>
        <p:spPr>
          <a:xfrm>
            <a:off x="10238446" y="-24795"/>
            <a:ext cx="1914525" cy="923925"/>
          </a:xfrm>
          <a:prstGeom prst="rect">
            <a:avLst/>
          </a:prstGeom>
        </p:spPr>
      </p:pic>
      <p:pic>
        <p:nvPicPr>
          <p:cNvPr id="14" name="Image 13">
            <a:extLst>
              <a:ext uri="{FF2B5EF4-FFF2-40B4-BE49-F238E27FC236}">
                <a16:creationId xmlns:a16="http://schemas.microsoft.com/office/drawing/2014/main" id="{C275DDA1-2097-42A2-BDA5-ADBA55DBD847}"/>
              </a:ext>
            </a:extLst>
          </p:cNvPr>
          <p:cNvPicPr>
            <a:picLocks noChangeAspect="1"/>
          </p:cNvPicPr>
          <p:nvPr/>
        </p:nvPicPr>
        <p:blipFill>
          <a:blip r:embed="rId9"/>
          <a:stretch>
            <a:fillRect/>
          </a:stretch>
        </p:blipFill>
        <p:spPr>
          <a:xfrm>
            <a:off x="64863" y="25467"/>
            <a:ext cx="1032661" cy="1030725"/>
          </a:xfrm>
          <a:prstGeom prst="rect">
            <a:avLst/>
          </a:prstGeom>
        </p:spPr>
      </p:pic>
    </p:spTree>
    <p:extLst>
      <p:ext uri="{BB962C8B-B14F-4D97-AF65-F5344CB8AC3E}">
        <p14:creationId xmlns:p14="http://schemas.microsoft.com/office/powerpoint/2010/main" val="1827038210"/>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2.1- Présentation de l’entreprise</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581192" y="2036445"/>
            <a:ext cx="11029616" cy="4693593"/>
          </a:xfrm>
          <a:prstGeom prst="rect">
            <a:avLst/>
          </a:prstGeom>
          <a:noFill/>
        </p:spPr>
        <p:txBody>
          <a:bodyPr wrap="square" rtlCol="0">
            <a:spAutoFit/>
          </a:bodyPr>
          <a:lstStyle/>
          <a:p>
            <a:pPr algn="just" rtl="0"/>
            <a:r>
              <a:rPr lang="fr-FR" sz="2300" dirty="0"/>
              <a:t>Fondée le 16 novembre 2018 par M. Joseph KEUMENI, l'académie ISARE (Institut Supérieur en Administration Réseau d'Entreprise) est à la fois un centre de formation et de certification internationale agréé, et une entreprise de prestation de services dans le domaine des Technologies de l'Information et de la Communication (TIC), intervenant dans toute la sous-région Afrique Centrale.</a:t>
            </a:r>
          </a:p>
          <a:p>
            <a:pPr algn="just" rtl="0"/>
            <a:endParaRPr lang="fr-FR" sz="2300" dirty="0"/>
          </a:p>
          <a:p>
            <a:pPr algn="just" rtl="0"/>
            <a:r>
              <a:rPr lang="fr-FR" sz="2300" dirty="0"/>
              <a:t>Le groupe se compose d'une structure de services informatiques, d'un institut de formation pour techniciens et ingénieurs certifiés, ainsi que de l'ISTC (Institut Supérieur de Technologie et Commerce).</a:t>
            </a:r>
          </a:p>
          <a:p>
            <a:pPr algn="just" rtl="0"/>
            <a:endParaRPr lang="fr-FR" sz="2300" dirty="0"/>
          </a:p>
          <a:p>
            <a:pPr algn="just" rtl="0"/>
            <a:r>
              <a:rPr lang="fr-FR" sz="2300" dirty="0"/>
              <a:t>Ses missions principales s'articulent autour de l'offre de formations professionnelles de pointe et de certifications reconnues mondialement (CQP, CCNA Enterprise, </a:t>
            </a:r>
            <a:r>
              <a:rPr lang="fr-FR" sz="2300" dirty="0" err="1"/>
              <a:t>CyberOps</a:t>
            </a:r>
            <a:r>
              <a:rPr lang="fr-FR" sz="2300" dirty="0"/>
              <a:t> Associate, IT Essentials).</a:t>
            </a:r>
            <a:endParaRPr lang="fr-CM" sz="2300" dirty="0"/>
          </a:p>
        </p:txBody>
      </p:sp>
    </p:spTree>
    <p:extLst>
      <p:ext uri="{BB962C8B-B14F-4D97-AF65-F5344CB8AC3E}">
        <p14:creationId xmlns:p14="http://schemas.microsoft.com/office/powerpoint/2010/main" val="4293503393"/>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au contenu 4" descr="Valeurs numériqu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aphicFrame>
        <p:nvGraphicFramePr>
          <p:cNvPr id="6" name="Espace réservé au contenu 5" descr="Graphique 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070271944"/>
              </p:ext>
            </p:extLst>
          </p:nvPr>
        </p:nvGraphicFramePr>
        <p:xfrm>
          <a:off x="719570" y="2198254"/>
          <a:ext cx="8119630"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Image 9">
            <a:extLst>
              <a:ext uri="{FF2B5EF4-FFF2-40B4-BE49-F238E27FC236}">
                <a16:creationId xmlns:a16="http://schemas.microsoft.com/office/drawing/2014/main" id="{48BF8250-294D-4827-8A0B-B46A16C97F25}"/>
              </a:ext>
            </a:extLst>
          </p:cNvPr>
          <p:cNvPicPr>
            <a:picLocks noChangeAspect="1"/>
          </p:cNvPicPr>
          <p:nvPr/>
        </p:nvPicPr>
        <p:blipFill>
          <a:blip r:embed="rId9"/>
          <a:stretch>
            <a:fillRect/>
          </a:stretch>
        </p:blipFill>
        <p:spPr>
          <a:xfrm>
            <a:off x="64863" y="53176"/>
            <a:ext cx="1032661" cy="1030725"/>
          </a:xfrm>
          <a:prstGeom prst="rect">
            <a:avLst/>
          </a:prstGeom>
        </p:spPr>
      </p:pic>
      <p:pic>
        <p:nvPicPr>
          <p:cNvPr id="11" name="Image 10">
            <a:extLst>
              <a:ext uri="{FF2B5EF4-FFF2-40B4-BE49-F238E27FC236}">
                <a16:creationId xmlns:a16="http://schemas.microsoft.com/office/drawing/2014/main" id="{5E5198CE-DAFD-4E08-A881-B61E690926FE}"/>
              </a:ext>
            </a:extLst>
          </p:cNvPr>
          <p:cNvPicPr>
            <a:picLocks noChangeAspect="1"/>
          </p:cNvPicPr>
          <p:nvPr/>
        </p:nvPicPr>
        <p:blipFill>
          <a:blip r:embed="rId10"/>
          <a:stretch>
            <a:fillRect/>
          </a:stretch>
        </p:blipFill>
        <p:spPr>
          <a:xfrm>
            <a:off x="1097524" y="127962"/>
            <a:ext cx="1294589" cy="1093927"/>
          </a:xfrm>
          <a:prstGeom prst="rect">
            <a:avLst/>
          </a:prstGeom>
        </p:spPr>
      </p:pic>
      <p:pic>
        <p:nvPicPr>
          <p:cNvPr id="12" name="Image 11">
            <a:extLst>
              <a:ext uri="{FF2B5EF4-FFF2-40B4-BE49-F238E27FC236}">
                <a16:creationId xmlns:a16="http://schemas.microsoft.com/office/drawing/2014/main" id="{FAA5C716-CB73-4951-A3DD-AEAAFC598B15}"/>
              </a:ext>
            </a:extLst>
          </p:cNvPr>
          <p:cNvPicPr>
            <a:picLocks noChangeAspect="1"/>
          </p:cNvPicPr>
          <p:nvPr/>
        </p:nvPicPr>
        <p:blipFill>
          <a:blip r:embed="rId11"/>
          <a:stretch>
            <a:fillRect/>
          </a:stretch>
        </p:blipFill>
        <p:spPr>
          <a:xfrm>
            <a:off x="10238446" y="-24795"/>
            <a:ext cx="1914525" cy="923925"/>
          </a:xfrm>
          <a:prstGeom prst="rect">
            <a:avLst/>
          </a:prstGeom>
        </p:spPr>
      </p:pic>
      <p:pic>
        <p:nvPicPr>
          <p:cNvPr id="14" name="Image 13">
            <a:extLst>
              <a:ext uri="{FF2B5EF4-FFF2-40B4-BE49-F238E27FC236}">
                <a16:creationId xmlns:a16="http://schemas.microsoft.com/office/drawing/2014/main" id="{C275DDA1-2097-42A2-BDA5-ADBA55DBD847}"/>
              </a:ext>
            </a:extLst>
          </p:cNvPr>
          <p:cNvPicPr>
            <a:picLocks noChangeAspect="1"/>
          </p:cNvPicPr>
          <p:nvPr/>
        </p:nvPicPr>
        <p:blipFill>
          <a:blip r:embed="rId9"/>
          <a:stretch>
            <a:fillRect/>
          </a:stretch>
        </p:blipFill>
        <p:spPr>
          <a:xfrm>
            <a:off x="64863" y="25467"/>
            <a:ext cx="1032661" cy="1030725"/>
          </a:xfrm>
          <a:prstGeom prst="rect">
            <a:avLst/>
          </a:prstGeom>
        </p:spPr>
      </p:pic>
    </p:spTree>
    <p:extLst>
      <p:ext uri="{BB962C8B-B14F-4D97-AF65-F5344CB8AC3E}">
        <p14:creationId xmlns:p14="http://schemas.microsoft.com/office/powerpoint/2010/main" val="2991084825"/>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3.1- CONTEXTE et architecture réseau</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712364" y="1810464"/>
            <a:ext cx="4220176" cy="5047536"/>
          </a:xfrm>
          <a:prstGeom prst="rect">
            <a:avLst/>
          </a:prstGeom>
          <a:noFill/>
        </p:spPr>
        <p:txBody>
          <a:bodyPr wrap="square" rtlCol="0">
            <a:spAutoFit/>
          </a:bodyPr>
          <a:lstStyle/>
          <a:p>
            <a:pPr algn="just" rtl="0"/>
            <a:br>
              <a:rPr lang="fr-FR" sz="2300" dirty="0"/>
            </a:br>
            <a:r>
              <a:rPr lang="fr-FR" sz="2300" dirty="0"/>
              <a:t>Le réseau de PRESTABIST s'appuie sur une double liaison externe vers Internet : une liaison principale à haut débit de 600 Mbps fournie par l'opérateur SAFITEL (AS 328594), et une liaison de secours de 155 Mbps fournie par CAMTEL (AS 15964). En interne, deux routeurs de cœur de réseau (ASR-CORE1 et ASR-CORE3) distribuent le trafic vers deux blocs logiques de clients, la Base 1 et la Base 2.</a:t>
            </a:r>
            <a:endParaRPr lang="fr-CM" sz="2300" dirty="0"/>
          </a:p>
        </p:txBody>
      </p:sp>
      <p:pic>
        <p:nvPicPr>
          <p:cNvPr id="9" name="Image 8">
            <a:extLst>
              <a:ext uri="{FF2B5EF4-FFF2-40B4-BE49-F238E27FC236}">
                <a16:creationId xmlns:a16="http://schemas.microsoft.com/office/drawing/2014/main" id="{E37B4A6C-475D-44A9-B2BE-9682EE3E0431}"/>
              </a:ext>
            </a:extLst>
          </p:cNvPr>
          <p:cNvPicPr/>
          <p:nvPr/>
        </p:nvPicPr>
        <p:blipFill>
          <a:blip r:embed="rId6"/>
          <a:stretch>
            <a:fillRect/>
          </a:stretch>
        </p:blipFill>
        <p:spPr>
          <a:xfrm>
            <a:off x="470650" y="1823585"/>
            <a:ext cx="7158585" cy="5008948"/>
          </a:xfrm>
          <a:prstGeom prst="rect">
            <a:avLst/>
          </a:prstGeom>
          <a:noFill/>
          <a:ln w="12700">
            <a:noFill/>
          </a:ln>
        </p:spPr>
      </p:pic>
    </p:spTree>
    <p:extLst>
      <p:ext uri="{BB962C8B-B14F-4D97-AF65-F5344CB8AC3E}">
        <p14:creationId xmlns:p14="http://schemas.microsoft.com/office/powerpoint/2010/main" val="2328347126"/>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3.2- PROBLEMES GENERAUX</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712363" y="1810464"/>
            <a:ext cx="4440607" cy="4339650"/>
          </a:xfrm>
          <a:prstGeom prst="rect">
            <a:avLst/>
          </a:prstGeom>
          <a:noFill/>
        </p:spPr>
        <p:txBody>
          <a:bodyPr wrap="square" rtlCol="0">
            <a:spAutoFit/>
          </a:bodyPr>
          <a:lstStyle/>
          <a:p>
            <a:pPr algn="just" rtl="0"/>
            <a:r>
              <a:rPr lang="fr-FR" sz="2300" dirty="0"/>
              <a:t>L'audit technique mené sur l'environnement de simulation a permis de corroborer les défaillances relevées dans le cahier des charges :</a:t>
            </a:r>
          </a:p>
          <a:p>
            <a:pPr algn="just" rtl="0"/>
            <a:endParaRPr lang="fr-FR" sz="2300" dirty="0"/>
          </a:p>
          <a:p>
            <a:pPr marL="342900" indent="-342900" algn="just" rtl="0">
              <a:buFont typeface="Arial" panose="020B0604020202020204" pitchFamily="34" charset="0"/>
              <a:buChar char="•"/>
            </a:pPr>
            <a:r>
              <a:rPr lang="fr-FR" sz="2300" dirty="0"/>
              <a:t>Les préfixes IP publics de PRESTABIST n'étaient pas propagés sur Internet, en raison d'un problème d'agrégation entre les sous-réseaux internes (/28) et le protocole BGP.</a:t>
            </a:r>
            <a:endParaRPr lang="fr-CM" sz="2300" dirty="0"/>
          </a:p>
        </p:txBody>
      </p:sp>
      <p:pic>
        <p:nvPicPr>
          <p:cNvPr id="10" name="Image 9">
            <a:extLst>
              <a:ext uri="{FF2B5EF4-FFF2-40B4-BE49-F238E27FC236}">
                <a16:creationId xmlns:a16="http://schemas.microsoft.com/office/drawing/2014/main" id="{FFB5AC89-6EED-4736-87BC-C65C1CC41C01}"/>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9461" y="1926080"/>
            <a:ext cx="7452904" cy="4743854"/>
          </a:xfrm>
          <a:prstGeom prst="rect">
            <a:avLst/>
          </a:prstGeom>
          <a:noFill/>
          <a:ln>
            <a:noFill/>
          </a:ln>
        </p:spPr>
      </p:pic>
    </p:spTree>
    <p:extLst>
      <p:ext uri="{BB962C8B-B14F-4D97-AF65-F5344CB8AC3E}">
        <p14:creationId xmlns:p14="http://schemas.microsoft.com/office/powerpoint/2010/main" val="20629171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3.3.- PROBLEMES GENERAUX</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390631" y="2924107"/>
            <a:ext cx="4762340" cy="1862048"/>
          </a:xfrm>
          <a:prstGeom prst="rect">
            <a:avLst/>
          </a:prstGeom>
          <a:noFill/>
        </p:spPr>
        <p:txBody>
          <a:bodyPr wrap="square" rtlCol="0">
            <a:spAutoFit/>
          </a:bodyPr>
          <a:lstStyle/>
          <a:p>
            <a:pPr algn="just" rtl="0"/>
            <a:endParaRPr lang="fr-FR" sz="2300" dirty="0"/>
          </a:p>
          <a:p>
            <a:pPr marL="342900" indent="-342900" algn="just" rtl="0">
              <a:buFont typeface="Arial" panose="020B0604020202020204" pitchFamily="34" charset="0"/>
              <a:buChar char="•"/>
            </a:pPr>
            <a:r>
              <a:rPr lang="fr-FR" sz="2300" dirty="0"/>
              <a:t>Les routes échangées entre les deux routeurs de cœur via </a:t>
            </a:r>
            <a:r>
              <a:rPr lang="fr-FR" sz="2300" dirty="0" err="1"/>
              <a:t>iBGP</a:t>
            </a:r>
            <a:r>
              <a:rPr lang="fr-FR" sz="2300" dirty="0"/>
              <a:t> étaient marquées « inaccessibles », paralysant la redondance interne</a:t>
            </a:r>
            <a:endParaRPr lang="fr-CM" sz="2300" dirty="0"/>
          </a:p>
        </p:txBody>
      </p:sp>
      <p:pic>
        <p:nvPicPr>
          <p:cNvPr id="9" name="Image 8">
            <a:extLst>
              <a:ext uri="{FF2B5EF4-FFF2-40B4-BE49-F238E27FC236}">
                <a16:creationId xmlns:a16="http://schemas.microsoft.com/office/drawing/2014/main" id="{19473E6E-3545-4DBA-956B-F9F0C538A76B}"/>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9460" y="2373119"/>
            <a:ext cx="7131170" cy="3403424"/>
          </a:xfrm>
          <a:prstGeom prst="rect">
            <a:avLst/>
          </a:prstGeom>
          <a:noFill/>
          <a:ln>
            <a:noFill/>
          </a:ln>
        </p:spPr>
      </p:pic>
    </p:spTree>
    <p:extLst>
      <p:ext uri="{BB962C8B-B14F-4D97-AF65-F5344CB8AC3E}">
        <p14:creationId xmlns:p14="http://schemas.microsoft.com/office/powerpoint/2010/main" val="263343544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3.4- PROBLEMES GENERAUX</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119698" y="2924020"/>
            <a:ext cx="4762340" cy="2569934"/>
          </a:xfrm>
          <a:prstGeom prst="rect">
            <a:avLst/>
          </a:prstGeom>
          <a:noFill/>
        </p:spPr>
        <p:txBody>
          <a:bodyPr wrap="square" rtlCol="0">
            <a:spAutoFit/>
          </a:bodyPr>
          <a:lstStyle/>
          <a:p>
            <a:pPr algn="just" rtl="0"/>
            <a:endParaRPr lang="fr-FR" sz="2300" dirty="0"/>
          </a:p>
          <a:p>
            <a:pPr marL="342900" indent="-342900" algn="just" rtl="0">
              <a:buFont typeface="Arial" panose="020B0604020202020204" pitchFamily="34" charset="0"/>
              <a:buChar char="•"/>
            </a:pPr>
            <a:r>
              <a:rPr lang="fr-FR" sz="2300" b="1" dirty="0"/>
              <a:t>Temps de convergence</a:t>
            </a:r>
            <a:r>
              <a:rPr lang="fr-FR" sz="2300" dirty="0"/>
              <a:t>: Une coupure physique simulée sur la liaison principale a entraîné la perte de 85 paquets consécutifs, soit près de 170 secondes d'interruption avant bascule</a:t>
            </a:r>
            <a:endParaRPr lang="fr-CM" sz="2300" dirty="0"/>
          </a:p>
        </p:txBody>
      </p:sp>
      <p:pic>
        <p:nvPicPr>
          <p:cNvPr id="10" name="Image 9">
            <a:extLst>
              <a:ext uri="{FF2B5EF4-FFF2-40B4-BE49-F238E27FC236}">
                <a16:creationId xmlns:a16="http://schemas.microsoft.com/office/drawing/2014/main" id="{E34AE4E4-91E1-428E-B68E-F49CCD999986}"/>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581193" y="1976342"/>
            <a:ext cx="6344540" cy="4458325"/>
          </a:xfrm>
          <a:prstGeom prst="rect">
            <a:avLst/>
          </a:prstGeom>
          <a:noFill/>
          <a:ln>
            <a:noFill/>
          </a:ln>
        </p:spPr>
      </p:pic>
    </p:spTree>
    <p:extLst>
      <p:ext uri="{BB962C8B-B14F-4D97-AF65-F5344CB8AC3E}">
        <p14:creationId xmlns:p14="http://schemas.microsoft.com/office/powerpoint/2010/main" val="662726768"/>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3.5- PROBLEMES GENERAUX</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6925733" y="2319686"/>
            <a:ext cx="4762340" cy="3631763"/>
          </a:xfrm>
          <a:prstGeom prst="rect">
            <a:avLst/>
          </a:prstGeom>
          <a:noFill/>
        </p:spPr>
        <p:txBody>
          <a:bodyPr wrap="square" rtlCol="0">
            <a:spAutoFit/>
          </a:bodyPr>
          <a:lstStyle/>
          <a:p>
            <a:pPr algn="just" rtl="0"/>
            <a:endParaRPr lang="fr-FR" sz="2300" dirty="0"/>
          </a:p>
          <a:p>
            <a:pPr marL="342900" indent="-342900" algn="just" rtl="0">
              <a:buFont typeface="Arial" panose="020B0604020202020204" pitchFamily="34" charset="0"/>
              <a:buChar char="•"/>
            </a:pPr>
            <a:r>
              <a:rPr lang="fr-FR" sz="2300" b="1" dirty="0"/>
              <a:t>Temps de convergence</a:t>
            </a:r>
            <a:r>
              <a:rPr lang="fr-FR" sz="2300" dirty="0"/>
              <a:t>: Une coupure physique simulée sur la liaison principale a entraîné la perte de 85 paquets consécutifs, soit près de 170 secondes d'interruption avant bascule</a:t>
            </a:r>
          </a:p>
          <a:p>
            <a:pPr marL="342900" indent="-342900" algn="just" rtl="0">
              <a:buFont typeface="Arial" panose="020B0604020202020204" pitchFamily="34" charset="0"/>
              <a:buChar char="•"/>
            </a:pPr>
            <a:endParaRPr lang="fr-FR" sz="2300" dirty="0"/>
          </a:p>
          <a:p>
            <a:pPr marL="342900" indent="-342900" algn="just" rtl="0">
              <a:buFont typeface="Arial" panose="020B0604020202020204" pitchFamily="34" charset="0"/>
              <a:buChar char="•"/>
            </a:pPr>
            <a:r>
              <a:rPr lang="fr-FR" sz="2300" dirty="0"/>
              <a:t>Absence de la gestion de la QoS pour les client VIP</a:t>
            </a:r>
            <a:endParaRPr lang="fr-CM" sz="2300" dirty="0"/>
          </a:p>
        </p:txBody>
      </p:sp>
      <p:pic>
        <p:nvPicPr>
          <p:cNvPr id="10" name="Image 9">
            <a:extLst>
              <a:ext uri="{FF2B5EF4-FFF2-40B4-BE49-F238E27FC236}">
                <a16:creationId xmlns:a16="http://schemas.microsoft.com/office/drawing/2014/main" id="{E34AE4E4-91E1-428E-B68E-F49CCD999986}"/>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581193" y="1976342"/>
            <a:ext cx="6344540" cy="4458325"/>
          </a:xfrm>
          <a:prstGeom prst="rect">
            <a:avLst/>
          </a:prstGeom>
          <a:noFill/>
          <a:ln>
            <a:noFill/>
          </a:ln>
        </p:spPr>
      </p:pic>
    </p:spTree>
    <p:extLst>
      <p:ext uri="{BB962C8B-B14F-4D97-AF65-F5344CB8AC3E}">
        <p14:creationId xmlns:p14="http://schemas.microsoft.com/office/powerpoint/2010/main" val="449012056"/>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3.6- Manquement lies au </a:t>
            </a:r>
            <a:r>
              <a:rPr lang="fr-FR" dirty="0" err="1"/>
              <a:t>peering</a:t>
            </a:r>
            <a:r>
              <a:rPr lang="fr-FR" dirty="0"/>
              <a:t> FAI-CDN</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6096000" y="1976342"/>
            <a:ext cx="5514809" cy="4693593"/>
          </a:xfrm>
          <a:prstGeom prst="rect">
            <a:avLst/>
          </a:prstGeom>
          <a:noFill/>
        </p:spPr>
        <p:txBody>
          <a:bodyPr wrap="square" rtlCol="0">
            <a:spAutoFit/>
          </a:bodyPr>
          <a:lstStyle/>
          <a:p>
            <a:pPr algn="just" rtl="0"/>
            <a:r>
              <a:rPr lang="fr-FR" sz="2300" dirty="0"/>
              <a:t>Au-delà des dysfonctionnements généraux, l'audit a révélé des manquements spécifiques à la gestion des échanges avec les fournisseurs de</a:t>
            </a:r>
          </a:p>
          <a:p>
            <a:pPr rtl="0"/>
            <a:r>
              <a:rPr lang="fr-FR" sz="2300" dirty="0"/>
              <a:t>contenu :</a:t>
            </a:r>
          </a:p>
          <a:p>
            <a:pPr marL="342900" indent="-342900" rtl="0">
              <a:buFont typeface="Arial" panose="020B0604020202020204" pitchFamily="34" charset="0"/>
              <a:buChar char="•"/>
            </a:pPr>
            <a:r>
              <a:rPr lang="fr-FR" sz="2300" b="1" dirty="0"/>
              <a:t>Routage sortant aveugle </a:t>
            </a:r>
            <a:r>
              <a:rPr lang="fr-FR" sz="2300" dirty="0"/>
              <a:t>:  en l'absence de politique d'ingénierie de trafic, un flux lourd vers un CDN mondial (</a:t>
            </a:r>
            <a:r>
              <a:rPr lang="fr-FR" sz="2300" dirty="0" err="1"/>
              <a:t>Cloudflare</a:t>
            </a:r>
            <a:r>
              <a:rPr lang="fr-FR" sz="2300" dirty="0"/>
              <a:t>, Google) initié depuis la Base 2 était systématiquement acheminé via le lien CAMTEL (155 Mbps), au risque de le saturer, pendant que SAFITEL (600 Mbps) restait sous-exploité</a:t>
            </a:r>
          </a:p>
        </p:txBody>
      </p:sp>
      <p:pic>
        <p:nvPicPr>
          <p:cNvPr id="9" name="Image 8">
            <a:extLst>
              <a:ext uri="{FF2B5EF4-FFF2-40B4-BE49-F238E27FC236}">
                <a16:creationId xmlns:a16="http://schemas.microsoft.com/office/drawing/2014/main" id="{C2B42659-F98E-4B83-A3F0-483E8836E580}"/>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220133" y="1976342"/>
            <a:ext cx="5514809" cy="4559925"/>
          </a:xfrm>
          <a:prstGeom prst="rect">
            <a:avLst/>
          </a:prstGeom>
          <a:noFill/>
          <a:ln>
            <a:noFill/>
          </a:ln>
        </p:spPr>
      </p:pic>
    </p:spTree>
    <p:extLst>
      <p:ext uri="{BB962C8B-B14F-4D97-AF65-F5344CB8AC3E}">
        <p14:creationId xmlns:p14="http://schemas.microsoft.com/office/powerpoint/2010/main" val="363038344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3.7- Manquement lies au </a:t>
            </a:r>
            <a:r>
              <a:rPr lang="fr-FR" dirty="0" err="1"/>
              <a:t>peering</a:t>
            </a:r>
            <a:r>
              <a:rPr lang="fr-FR" dirty="0"/>
              <a:t> FAI-CDN</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148737" y="2472443"/>
            <a:ext cx="4978400" cy="2923877"/>
          </a:xfrm>
          <a:prstGeom prst="rect">
            <a:avLst/>
          </a:prstGeom>
          <a:noFill/>
        </p:spPr>
        <p:txBody>
          <a:bodyPr wrap="square" rtlCol="0">
            <a:spAutoFit/>
          </a:bodyPr>
          <a:lstStyle/>
          <a:p>
            <a:pPr marL="342900" indent="-342900" algn="just" rtl="0">
              <a:buFont typeface="Arial" panose="020B0604020202020204" pitchFamily="34" charset="0"/>
              <a:buChar char="•"/>
            </a:pPr>
            <a:r>
              <a:rPr lang="fr-FR" sz="2300" b="1" dirty="0"/>
              <a:t>Absence d'ingénierie entrante : </a:t>
            </a:r>
            <a:r>
              <a:rPr lang="fr-FR" sz="2300" dirty="0"/>
              <a:t>les flux de téléchargement descendants étaient distribués de façon aléatoire par les routeurs-CDN tiers sur les deux liaisons avec PRESTABIST, exposant la liaison de secours à un risque permanent de congestion</a:t>
            </a:r>
          </a:p>
        </p:txBody>
      </p:sp>
      <p:pic>
        <p:nvPicPr>
          <p:cNvPr id="10" name="Image 9">
            <a:extLst>
              <a:ext uri="{FF2B5EF4-FFF2-40B4-BE49-F238E27FC236}">
                <a16:creationId xmlns:a16="http://schemas.microsoft.com/office/drawing/2014/main" id="{0FB3DC2E-EF71-4A9B-9323-D851CA709C65}"/>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7867" y="2285639"/>
            <a:ext cx="6860870" cy="4182714"/>
          </a:xfrm>
          <a:prstGeom prst="rect">
            <a:avLst/>
          </a:prstGeom>
          <a:noFill/>
          <a:ln>
            <a:noFill/>
          </a:ln>
        </p:spPr>
      </p:pic>
    </p:spTree>
    <p:extLst>
      <p:ext uri="{BB962C8B-B14F-4D97-AF65-F5344CB8AC3E}">
        <p14:creationId xmlns:p14="http://schemas.microsoft.com/office/powerpoint/2010/main" val="1236764581"/>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3.8- Manquement lies au </a:t>
            </a:r>
            <a:r>
              <a:rPr lang="fr-FR" dirty="0" err="1"/>
              <a:t>peering</a:t>
            </a:r>
            <a:r>
              <a:rPr lang="fr-FR" dirty="0"/>
              <a:t> FAI-CDN</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148737" y="2472443"/>
            <a:ext cx="4978400" cy="2215991"/>
          </a:xfrm>
          <a:prstGeom prst="rect">
            <a:avLst/>
          </a:prstGeom>
          <a:noFill/>
        </p:spPr>
        <p:txBody>
          <a:bodyPr wrap="square" rtlCol="0">
            <a:spAutoFit/>
          </a:bodyPr>
          <a:lstStyle/>
          <a:p>
            <a:pPr marL="342900" indent="-342900" algn="just" rtl="0">
              <a:buFont typeface="Arial" panose="020B0604020202020204" pitchFamily="34" charset="0"/>
              <a:buChar char="•"/>
            </a:pPr>
            <a:r>
              <a:rPr lang="fr-FR" sz="2300" b="1" dirty="0"/>
              <a:t>Asymétrie géographique : </a:t>
            </a:r>
            <a:r>
              <a:rPr lang="fr-FR" sz="2300" dirty="0"/>
              <a:t>les requêtes vers des serveurs de contenu proches d'un opérateur spécifique(CAMTEL/SAFITEL) subissaient des détours inutiles, dégradant la latence.</a:t>
            </a:r>
          </a:p>
        </p:txBody>
      </p:sp>
      <p:graphicFrame>
        <p:nvGraphicFramePr>
          <p:cNvPr id="3" name="Tableau 2">
            <a:extLst>
              <a:ext uri="{FF2B5EF4-FFF2-40B4-BE49-F238E27FC236}">
                <a16:creationId xmlns:a16="http://schemas.microsoft.com/office/drawing/2014/main" id="{1AE91BC7-F5BC-477C-AA19-32F91343B649}"/>
              </a:ext>
            </a:extLst>
          </p:cNvPr>
          <p:cNvGraphicFramePr>
            <a:graphicFrameLocks noGrp="1"/>
          </p:cNvGraphicFramePr>
          <p:nvPr>
            <p:extLst>
              <p:ext uri="{D42A27DB-BD31-4B8C-83A1-F6EECF244321}">
                <p14:modId xmlns:p14="http://schemas.microsoft.com/office/powerpoint/2010/main" val="370328085"/>
              </p:ext>
            </p:extLst>
          </p:nvPr>
        </p:nvGraphicFramePr>
        <p:xfrm>
          <a:off x="423333" y="1926080"/>
          <a:ext cx="6725404" cy="4202262"/>
        </p:xfrm>
        <a:graphic>
          <a:graphicData uri="http://schemas.openxmlformats.org/drawingml/2006/table">
            <a:tbl>
              <a:tblPr firstRow="1" firstCol="1" bandRow="1">
                <a:tableStyleId>{5C22544A-7EE6-4342-B048-85BDC9FD1C3A}</a:tableStyleId>
              </a:tblPr>
              <a:tblGrid>
                <a:gridCol w="1681351">
                  <a:extLst>
                    <a:ext uri="{9D8B030D-6E8A-4147-A177-3AD203B41FA5}">
                      <a16:colId xmlns:a16="http://schemas.microsoft.com/office/drawing/2014/main" val="3038806165"/>
                    </a:ext>
                  </a:extLst>
                </a:gridCol>
                <a:gridCol w="1681351">
                  <a:extLst>
                    <a:ext uri="{9D8B030D-6E8A-4147-A177-3AD203B41FA5}">
                      <a16:colId xmlns:a16="http://schemas.microsoft.com/office/drawing/2014/main" val="1802232914"/>
                    </a:ext>
                  </a:extLst>
                </a:gridCol>
                <a:gridCol w="1681351">
                  <a:extLst>
                    <a:ext uri="{9D8B030D-6E8A-4147-A177-3AD203B41FA5}">
                      <a16:colId xmlns:a16="http://schemas.microsoft.com/office/drawing/2014/main" val="2429178482"/>
                    </a:ext>
                  </a:extLst>
                </a:gridCol>
                <a:gridCol w="1681351">
                  <a:extLst>
                    <a:ext uri="{9D8B030D-6E8A-4147-A177-3AD203B41FA5}">
                      <a16:colId xmlns:a16="http://schemas.microsoft.com/office/drawing/2014/main" val="3524149947"/>
                    </a:ext>
                  </a:extLst>
                </a:gridCol>
              </a:tblGrid>
              <a:tr h="778043">
                <a:tc>
                  <a:txBody>
                    <a:bodyPr/>
                    <a:lstStyle/>
                    <a:p>
                      <a:pPr marL="0" marR="0" algn="ctr">
                        <a:lnSpc>
                          <a:spcPct val="107000"/>
                        </a:lnSpc>
                        <a:spcBef>
                          <a:spcPts val="0"/>
                        </a:spcBef>
                        <a:spcAft>
                          <a:spcPts val="2400"/>
                        </a:spcAft>
                      </a:pPr>
                      <a:r>
                        <a:rPr lang="fr-CM" sz="1400" dirty="0">
                          <a:effectLst/>
                        </a:rPr>
                        <a:t>Destination</a:t>
                      </a:r>
                      <a:endParaRPr lang="fr-CM" sz="12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Via CAMTEL</a:t>
                      </a:r>
                      <a:endParaRPr lang="fr-CM" sz="12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Via SAFITEL</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Asymétrie constatée</a:t>
                      </a:r>
                      <a:endParaRPr lang="fr-CM" sz="12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9707615"/>
                  </a:ext>
                </a:extLst>
              </a:tr>
              <a:tr h="728114">
                <a:tc>
                  <a:txBody>
                    <a:bodyPr/>
                    <a:lstStyle/>
                    <a:p>
                      <a:pPr marL="0" marR="0" algn="ctr">
                        <a:lnSpc>
                          <a:spcPct val="107000"/>
                        </a:lnSpc>
                        <a:spcBef>
                          <a:spcPts val="0"/>
                        </a:spcBef>
                        <a:spcAft>
                          <a:spcPts val="2400"/>
                        </a:spcAft>
                      </a:pPr>
                      <a:r>
                        <a:rPr lang="fr-CM" sz="1400">
                          <a:effectLst/>
                        </a:rPr>
                        <a:t>3.3.3.3 (R3-CDN)</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2 sauts avec AS 15964 300</a:t>
                      </a:r>
                      <a:endParaRPr lang="fr-CM" sz="12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4 sauts</a:t>
                      </a:r>
                      <a:endParaRPr lang="fr-CM" sz="12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CAMTEL bien plus court</a:t>
                      </a:r>
                      <a:endParaRPr lang="fr-CM" sz="12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698908716"/>
                  </a:ext>
                </a:extLst>
              </a:tr>
              <a:tr h="674026">
                <a:tc>
                  <a:txBody>
                    <a:bodyPr/>
                    <a:lstStyle/>
                    <a:p>
                      <a:pPr marL="0" marR="0" algn="ctr">
                        <a:lnSpc>
                          <a:spcPct val="107000"/>
                        </a:lnSpc>
                        <a:spcBef>
                          <a:spcPts val="0"/>
                        </a:spcBef>
                        <a:spcAft>
                          <a:spcPts val="2400"/>
                        </a:spcAft>
                      </a:pPr>
                      <a:r>
                        <a:rPr lang="fr-CM" sz="1400">
                          <a:effectLst/>
                        </a:rPr>
                        <a:t>5.5.5.5 (R5-CDN)</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4 sauts</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2 sauts avec AS 328594 500</a:t>
                      </a:r>
                      <a:endParaRPr lang="fr-CM" sz="12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SAFITEL bien plus court</a:t>
                      </a:r>
                      <a:endParaRPr lang="fr-CM" sz="12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088196356"/>
                  </a:ext>
                </a:extLst>
              </a:tr>
              <a:tr h="674026">
                <a:tc>
                  <a:txBody>
                    <a:bodyPr/>
                    <a:lstStyle/>
                    <a:p>
                      <a:pPr marL="0" marR="0" algn="ctr">
                        <a:lnSpc>
                          <a:spcPct val="107000"/>
                        </a:lnSpc>
                        <a:spcBef>
                          <a:spcPts val="0"/>
                        </a:spcBef>
                        <a:spcAft>
                          <a:spcPts val="2400"/>
                        </a:spcAft>
                      </a:pPr>
                      <a:r>
                        <a:rPr lang="fr-CM" sz="1400">
                          <a:effectLst/>
                        </a:rPr>
                        <a:t>1.1.1.1 et 8.8.8.8 (R1-CDN)</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4 sauts</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4 sauts</a:t>
                      </a:r>
                      <a:endParaRPr lang="fr-CM" sz="12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Égalité</a:t>
                      </a:r>
                      <a:endParaRPr lang="fr-CM" sz="12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440413635"/>
                  </a:ext>
                </a:extLst>
              </a:tr>
              <a:tr h="449351">
                <a:tc>
                  <a:txBody>
                    <a:bodyPr/>
                    <a:lstStyle/>
                    <a:p>
                      <a:pPr marL="0" marR="0" algn="ctr">
                        <a:lnSpc>
                          <a:spcPct val="107000"/>
                        </a:lnSpc>
                        <a:spcBef>
                          <a:spcPts val="0"/>
                        </a:spcBef>
                        <a:spcAft>
                          <a:spcPts val="2400"/>
                        </a:spcAft>
                      </a:pPr>
                      <a:r>
                        <a:rPr lang="fr-CM" sz="1400">
                          <a:effectLst/>
                        </a:rPr>
                        <a:t>2.2.2.2 (R2-CDN)</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3 sauts</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3 sauts</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Égalité </a:t>
                      </a:r>
                      <a:endParaRPr lang="fr-CM" sz="12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964035646"/>
                  </a:ext>
                </a:extLst>
              </a:tr>
              <a:tr h="449351">
                <a:tc>
                  <a:txBody>
                    <a:bodyPr/>
                    <a:lstStyle/>
                    <a:p>
                      <a:pPr marL="0" marR="0" algn="ctr">
                        <a:lnSpc>
                          <a:spcPct val="107000"/>
                        </a:lnSpc>
                        <a:spcBef>
                          <a:spcPts val="0"/>
                        </a:spcBef>
                        <a:spcAft>
                          <a:spcPts val="2400"/>
                        </a:spcAft>
                      </a:pPr>
                      <a:r>
                        <a:rPr lang="fr-CM" sz="1400">
                          <a:effectLst/>
                        </a:rPr>
                        <a:t>4.4.4.4 (R4-CDN)</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3 sauts</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3 sauts</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Égalité </a:t>
                      </a:r>
                      <a:endParaRPr lang="fr-CM" sz="12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158669066"/>
                  </a:ext>
                </a:extLst>
              </a:tr>
              <a:tr h="449351">
                <a:tc>
                  <a:txBody>
                    <a:bodyPr/>
                    <a:lstStyle/>
                    <a:p>
                      <a:pPr marL="0" marR="0" algn="ctr">
                        <a:lnSpc>
                          <a:spcPct val="107000"/>
                        </a:lnSpc>
                        <a:spcBef>
                          <a:spcPts val="0"/>
                        </a:spcBef>
                        <a:spcAft>
                          <a:spcPts val="2400"/>
                        </a:spcAft>
                      </a:pPr>
                      <a:r>
                        <a:rPr lang="fr-CM" sz="1400">
                          <a:effectLst/>
                        </a:rPr>
                        <a:t>6.6.6.6 (R6-CDN)</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3 sauts</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3 sauts</a:t>
                      </a:r>
                      <a:endParaRPr lang="fr-CM" sz="12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Égalité</a:t>
                      </a:r>
                      <a:endParaRPr lang="fr-CM" sz="12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188260218"/>
                  </a:ext>
                </a:extLst>
              </a:tr>
            </a:tbl>
          </a:graphicData>
        </a:graphic>
      </p:graphicFrame>
    </p:spTree>
    <p:extLst>
      <p:ext uri="{BB962C8B-B14F-4D97-AF65-F5344CB8AC3E}">
        <p14:creationId xmlns:p14="http://schemas.microsoft.com/office/powerpoint/2010/main" val="152765716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au contenu 4" descr="Valeurs numériqu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aphicFrame>
        <p:nvGraphicFramePr>
          <p:cNvPr id="6" name="Espace réservé au contenu 5" descr="Graphique 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470946898"/>
              </p:ext>
            </p:extLst>
          </p:nvPr>
        </p:nvGraphicFramePr>
        <p:xfrm>
          <a:off x="719570" y="2198254"/>
          <a:ext cx="8119630"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Image 9">
            <a:extLst>
              <a:ext uri="{FF2B5EF4-FFF2-40B4-BE49-F238E27FC236}">
                <a16:creationId xmlns:a16="http://schemas.microsoft.com/office/drawing/2014/main" id="{48BF8250-294D-4827-8A0B-B46A16C97F25}"/>
              </a:ext>
            </a:extLst>
          </p:cNvPr>
          <p:cNvPicPr>
            <a:picLocks noChangeAspect="1"/>
          </p:cNvPicPr>
          <p:nvPr/>
        </p:nvPicPr>
        <p:blipFill>
          <a:blip r:embed="rId9"/>
          <a:stretch>
            <a:fillRect/>
          </a:stretch>
        </p:blipFill>
        <p:spPr>
          <a:xfrm>
            <a:off x="64863" y="53176"/>
            <a:ext cx="1032661" cy="1030725"/>
          </a:xfrm>
          <a:prstGeom prst="rect">
            <a:avLst/>
          </a:prstGeom>
        </p:spPr>
      </p:pic>
      <p:pic>
        <p:nvPicPr>
          <p:cNvPr id="11" name="Image 10">
            <a:extLst>
              <a:ext uri="{FF2B5EF4-FFF2-40B4-BE49-F238E27FC236}">
                <a16:creationId xmlns:a16="http://schemas.microsoft.com/office/drawing/2014/main" id="{5E5198CE-DAFD-4E08-A881-B61E690926FE}"/>
              </a:ext>
            </a:extLst>
          </p:cNvPr>
          <p:cNvPicPr>
            <a:picLocks noChangeAspect="1"/>
          </p:cNvPicPr>
          <p:nvPr/>
        </p:nvPicPr>
        <p:blipFill>
          <a:blip r:embed="rId10"/>
          <a:stretch>
            <a:fillRect/>
          </a:stretch>
        </p:blipFill>
        <p:spPr>
          <a:xfrm>
            <a:off x="1097524" y="127962"/>
            <a:ext cx="1294589" cy="1093927"/>
          </a:xfrm>
          <a:prstGeom prst="rect">
            <a:avLst/>
          </a:prstGeom>
        </p:spPr>
      </p:pic>
      <p:pic>
        <p:nvPicPr>
          <p:cNvPr id="12" name="Image 11">
            <a:extLst>
              <a:ext uri="{FF2B5EF4-FFF2-40B4-BE49-F238E27FC236}">
                <a16:creationId xmlns:a16="http://schemas.microsoft.com/office/drawing/2014/main" id="{FAA5C716-CB73-4951-A3DD-AEAAFC598B15}"/>
              </a:ext>
            </a:extLst>
          </p:cNvPr>
          <p:cNvPicPr>
            <a:picLocks noChangeAspect="1"/>
          </p:cNvPicPr>
          <p:nvPr/>
        </p:nvPicPr>
        <p:blipFill>
          <a:blip r:embed="rId11"/>
          <a:stretch>
            <a:fillRect/>
          </a:stretch>
        </p:blipFill>
        <p:spPr>
          <a:xfrm>
            <a:off x="10238446" y="-24795"/>
            <a:ext cx="1914525" cy="923925"/>
          </a:xfrm>
          <a:prstGeom prst="rect">
            <a:avLst/>
          </a:prstGeom>
        </p:spPr>
      </p:pic>
      <p:pic>
        <p:nvPicPr>
          <p:cNvPr id="14" name="Image 13">
            <a:extLst>
              <a:ext uri="{FF2B5EF4-FFF2-40B4-BE49-F238E27FC236}">
                <a16:creationId xmlns:a16="http://schemas.microsoft.com/office/drawing/2014/main" id="{C275DDA1-2097-42A2-BDA5-ADBA55DBD847}"/>
              </a:ext>
            </a:extLst>
          </p:cNvPr>
          <p:cNvPicPr>
            <a:picLocks noChangeAspect="1"/>
          </p:cNvPicPr>
          <p:nvPr/>
        </p:nvPicPr>
        <p:blipFill>
          <a:blip r:embed="rId9"/>
          <a:stretch>
            <a:fillRect/>
          </a:stretch>
        </p:blipFill>
        <p:spPr>
          <a:xfrm>
            <a:off x="64863" y="25467"/>
            <a:ext cx="1032661" cy="1030725"/>
          </a:xfrm>
          <a:prstGeom prst="rect">
            <a:avLst/>
          </a:prstGeom>
        </p:spPr>
      </p:pic>
    </p:spTree>
    <p:extLst>
      <p:ext uri="{BB962C8B-B14F-4D97-AF65-F5344CB8AC3E}">
        <p14:creationId xmlns:p14="http://schemas.microsoft.com/office/powerpoint/2010/main" val="237668048"/>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4.1- Phase 1:  Fiabilisation de l’infrastructure</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712363" y="1810464"/>
            <a:ext cx="4440607" cy="3631763"/>
          </a:xfrm>
          <a:prstGeom prst="rect">
            <a:avLst/>
          </a:prstGeom>
          <a:noFill/>
        </p:spPr>
        <p:txBody>
          <a:bodyPr wrap="square" rtlCol="0">
            <a:spAutoFit/>
          </a:bodyPr>
          <a:lstStyle/>
          <a:p>
            <a:pPr algn="just" rtl="0"/>
            <a:r>
              <a:rPr lang="fr-FR" sz="2300" dirty="0"/>
              <a:t>Cette première phase vise à garantir la haute disponibilité et la protection des clients prioritaires, indépendamment de toute optimisation du </a:t>
            </a:r>
            <a:r>
              <a:rPr lang="fr-FR" sz="2300" dirty="0" err="1"/>
              <a:t>peering</a:t>
            </a:r>
            <a:r>
              <a:rPr lang="fr-FR" sz="2300" dirty="0"/>
              <a:t> :</a:t>
            </a:r>
          </a:p>
          <a:p>
            <a:pPr algn="just" rtl="0"/>
            <a:endParaRPr lang="fr-FR" sz="2300" dirty="0"/>
          </a:p>
          <a:p>
            <a:pPr marL="342900" indent="-342900" algn="just" rtl="0">
              <a:buFont typeface="Arial" panose="020B0604020202020204" pitchFamily="34" charset="0"/>
              <a:buChar char="•"/>
            </a:pPr>
            <a:r>
              <a:rPr lang="fr-FR" sz="2300" dirty="0"/>
              <a:t>Route statique Null0 : stabilise l'annonce du bloc global sur Internet malgré la segmentation interne en /28</a:t>
            </a:r>
            <a:endParaRPr lang="fr-CM" sz="2300" dirty="0"/>
          </a:p>
        </p:txBody>
      </p:sp>
      <p:pic>
        <p:nvPicPr>
          <p:cNvPr id="9" name="Image 8">
            <a:extLst>
              <a:ext uri="{FF2B5EF4-FFF2-40B4-BE49-F238E27FC236}">
                <a16:creationId xmlns:a16="http://schemas.microsoft.com/office/drawing/2014/main" id="{2D399E90-7153-4CAB-8D67-24FE953302A5}"/>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4152" y="2133223"/>
            <a:ext cx="7508211" cy="3808656"/>
          </a:xfrm>
          <a:prstGeom prst="rect">
            <a:avLst/>
          </a:prstGeom>
          <a:noFill/>
          <a:ln>
            <a:noFill/>
          </a:ln>
        </p:spPr>
      </p:pic>
    </p:spTree>
    <p:extLst>
      <p:ext uri="{BB962C8B-B14F-4D97-AF65-F5344CB8AC3E}">
        <p14:creationId xmlns:p14="http://schemas.microsoft.com/office/powerpoint/2010/main" val="1321696873"/>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4.1- Phase 1:  Fiabilisation de l’infrastructure</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712363" y="2056099"/>
            <a:ext cx="4440607" cy="1862048"/>
          </a:xfrm>
          <a:prstGeom prst="rect">
            <a:avLst/>
          </a:prstGeom>
          <a:noFill/>
        </p:spPr>
        <p:txBody>
          <a:bodyPr wrap="square" rtlCol="0">
            <a:spAutoFit/>
          </a:bodyPr>
          <a:lstStyle/>
          <a:p>
            <a:pPr algn="just" rtl="0"/>
            <a:endParaRPr lang="fr-FR" sz="2300" dirty="0"/>
          </a:p>
          <a:p>
            <a:pPr marL="342900" indent="-342900" algn="just" rtl="0">
              <a:buFont typeface="Arial" panose="020B0604020202020204" pitchFamily="34" charset="0"/>
              <a:buChar char="•"/>
            </a:pPr>
            <a:r>
              <a:rPr lang="fr-FR" sz="2300" dirty="0"/>
              <a:t>Next-Hop-Self : force chaque routeur de cœur à s'annoncer comme passerelle de sortie, rétablissant la redondance </a:t>
            </a:r>
            <a:r>
              <a:rPr lang="fr-FR" sz="2300" dirty="0" err="1"/>
              <a:t>iBGP</a:t>
            </a:r>
            <a:endParaRPr lang="fr-CM" sz="2300" dirty="0"/>
          </a:p>
        </p:txBody>
      </p:sp>
      <p:pic>
        <p:nvPicPr>
          <p:cNvPr id="10" name="Image 9">
            <a:extLst>
              <a:ext uri="{FF2B5EF4-FFF2-40B4-BE49-F238E27FC236}">
                <a16:creationId xmlns:a16="http://schemas.microsoft.com/office/drawing/2014/main" id="{8FB3328D-CF2D-4FEF-9CBF-C19A43E51F35}"/>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3964" y="2149976"/>
            <a:ext cx="7518399" cy="4033875"/>
          </a:xfrm>
          <a:prstGeom prst="rect">
            <a:avLst/>
          </a:prstGeom>
          <a:noFill/>
          <a:ln>
            <a:noFill/>
          </a:ln>
        </p:spPr>
      </p:pic>
    </p:spTree>
    <p:extLst>
      <p:ext uri="{BB962C8B-B14F-4D97-AF65-F5344CB8AC3E}">
        <p14:creationId xmlns:p14="http://schemas.microsoft.com/office/powerpoint/2010/main" val="1275927956"/>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4.1- Phase 1:  Fiabilisation de l’infrastructure</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712363" y="2056099"/>
            <a:ext cx="4440607" cy="2215991"/>
          </a:xfrm>
          <a:prstGeom prst="rect">
            <a:avLst/>
          </a:prstGeom>
          <a:noFill/>
        </p:spPr>
        <p:txBody>
          <a:bodyPr wrap="square" rtlCol="0">
            <a:spAutoFit/>
          </a:bodyPr>
          <a:lstStyle/>
          <a:p>
            <a:pPr algn="just" rtl="0"/>
            <a:endParaRPr lang="fr-FR" sz="2300" dirty="0"/>
          </a:p>
          <a:p>
            <a:pPr marL="342900" indent="-342900" algn="just" rtl="0">
              <a:buFont typeface="Arial" panose="020B0604020202020204" pitchFamily="34" charset="0"/>
              <a:buChar char="•"/>
            </a:pPr>
            <a:r>
              <a:rPr lang="fr-FR" sz="2300" dirty="0"/>
              <a:t>BFD (300 ms) couplé à des minuteurs BGP abaissés (</a:t>
            </a:r>
            <a:r>
              <a:rPr lang="fr-FR" sz="2300" dirty="0" err="1"/>
              <a:t>Keepalive</a:t>
            </a:r>
            <a:r>
              <a:rPr lang="fr-FR" sz="2300" dirty="0"/>
              <a:t> 10s / Hold </a:t>
            </a:r>
            <a:r>
              <a:rPr lang="fr-FR" sz="2300" dirty="0" err="1"/>
              <a:t>Timer</a:t>
            </a:r>
            <a:r>
              <a:rPr lang="fr-FR" sz="2300" dirty="0"/>
              <a:t> 30s) : réduit drastiquement le temps de convergence</a:t>
            </a:r>
            <a:endParaRPr lang="fr-CM" sz="2300" dirty="0"/>
          </a:p>
        </p:txBody>
      </p:sp>
      <p:pic>
        <p:nvPicPr>
          <p:cNvPr id="9" name="Image 8">
            <a:extLst>
              <a:ext uri="{FF2B5EF4-FFF2-40B4-BE49-F238E27FC236}">
                <a16:creationId xmlns:a16="http://schemas.microsoft.com/office/drawing/2014/main" id="{A9F0D726-7D69-4156-98AA-C654B0269CC5}"/>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4801" y="1810645"/>
            <a:ext cx="7552266" cy="4919393"/>
          </a:xfrm>
          <a:prstGeom prst="rect">
            <a:avLst/>
          </a:prstGeom>
          <a:noFill/>
          <a:ln>
            <a:noFill/>
          </a:ln>
        </p:spPr>
      </p:pic>
    </p:spTree>
    <p:extLst>
      <p:ext uri="{BB962C8B-B14F-4D97-AF65-F5344CB8AC3E}">
        <p14:creationId xmlns:p14="http://schemas.microsoft.com/office/powerpoint/2010/main" val="2162096138"/>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4.1- Phase 1:  Fiabilisation de l’infrastructure</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712363" y="2056099"/>
            <a:ext cx="4440607" cy="2569934"/>
          </a:xfrm>
          <a:prstGeom prst="rect">
            <a:avLst/>
          </a:prstGeom>
          <a:noFill/>
        </p:spPr>
        <p:txBody>
          <a:bodyPr wrap="square" rtlCol="0">
            <a:spAutoFit/>
          </a:bodyPr>
          <a:lstStyle/>
          <a:p>
            <a:pPr marL="342900" indent="-342900" algn="just" rtl="0">
              <a:buFont typeface="Arial" panose="020B0604020202020204" pitchFamily="34" charset="0"/>
              <a:buChar char="•"/>
            </a:pPr>
            <a:r>
              <a:rPr lang="fr-FR" sz="2300" b="1" dirty="0"/>
              <a:t>Qualité de Service Hiérarchique (</a:t>
            </a:r>
            <a:r>
              <a:rPr lang="fr-FR" sz="2300" b="1" dirty="0" err="1"/>
              <a:t>HQoS</a:t>
            </a:r>
            <a:r>
              <a:rPr lang="fr-FR" sz="2300" b="1" dirty="0"/>
              <a:t>) : </a:t>
            </a:r>
            <a:r>
              <a:rPr lang="fr-FR" sz="2300" dirty="0" err="1"/>
              <a:t>Communities</a:t>
            </a:r>
            <a:r>
              <a:rPr lang="fr-FR" sz="2300" dirty="0"/>
              <a:t> BGP par base client + Traffic </a:t>
            </a:r>
            <a:r>
              <a:rPr lang="fr-FR" sz="2300" dirty="0" err="1"/>
              <a:t>Shaping</a:t>
            </a:r>
            <a:r>
              <a:rPr lang="fr-FR" sz="2300" dirty="0"/>
              <a:t> et file d'attente prioritaire (LLQ) garantissant la bande passante des clients VIP</a:t>
            </a:r>
            <a:endParaRPr lang="fr-CM" sz="2300" dirty="0"/>
          </a:p>
        </p:txBody>
      </p:sp>
      <p:pic>
        <p:nvPicPr>
          <p:cNvPr id="10" name="Image 9">
            <a:extLst>
              <a:ext uri="{FF2B5EF4-FFF2-40B4-BE49-F238E27FC236}">
                <a16:creationId xmlns:a16="http://schemas.microsoft.com/office/drawing/2014/main" id="{BAB2AC10-0DCE-4488-B237-3FC67C62C1DC}"/>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5496" y="1913451"/>
            <a:ext cx="7041304" cy="3403616"/>
          </a:xfrm>
          <a:prstGeom prst="rect">
            <a:avLst/>
          </a:prstGeom>
          <a:noFill/>
          <a:ln>
            <a:noFill/>
          </a:ln>
        </p:spPr>
      </p:pic>
    </p:spTree>
    <p:extLst>
      <p:ext uri="{BB962C8B-B14F-4D97-AF65-F5344CB8AC3E}">
        <p14:creationId xmlns:p14="http://schemas.microsoft.com/office/powerpoint/2010/main" val="3533271979"/>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4.1- Phase 1:  Fiabilisation de l’infrastructure</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170202" y="2319686"/>
            <a:ext cx="4440607" cy="2569934"/>
          </a:xfrm>
          <a:prstGeom prst="rect">
            <a:avLst/>
          </a:prstGeom>
          <a:noFill/>
        </p:spPr>
        <p:txBody>
          <a:bodyPr wrap="square" rtlCol="0">
            <a:spAutoFit/>
          </a:bodyPr>
          <a:lstStyle/>
          <a:p>
            <a:pPr marL="342900" indent="-342900" algn="just" rtl="0">
              <a:buFont typeface="Arial" panose="020B0604020202020204" pitchFamily="34" charset="0"/>
              <a:buChar char="•"/>
            </a:pPr>
            <a:r>
              <a:rPr lang="fr-FR" sz="2300" b="1" dirty="0"/>
              <a:t>Qualité de Service Hiérarchique (</a:t>
            </a:r>
            <a:r>
              <a:rPr lang="fr-FR" sz="2300" b="1" dirty="0" err="1"/>
              <a:t>HQoS</a:t>
            </a:r>
            <a:r>
              <a:rPr lang="fr-FR" sz="2300" b="1" dirty="0"/>
              <a:t>) : </a:t>
            </a:r>
            <a:r>
              <a:rPr lang="fr-FR" sz="2300" dirty="0" err="1"/>
              <a:t>Communities</a:t>
            </a:r>
            <a:r>
              <a:rPr lang="fr-FR" sz="2300" dirty="0"/>
              <a:t> BGP par base client + Traffic </a:t>
            </a:r>
            <a:r>
              <a:rPr lang="fr-FR" sz="2300" dirty="0" err="1"/>
              <a:t>Shaping</a:t>
            </a:r>
            <a:r>
              <a:rPr lang="fr-FR" sz="2300" dirty="0"/>
              <a:t> et file d'attente prioritaire (LLQ) garantissant la bande passante des clients VIP</a:t>
            </a:r>
            <a:endParaRPr lang="fr-CM" sz="2300" dirty="0"/>
          </a:p>
        </p:txBody>
      </p:sp>
      <p:graphicFrame>
        <p:nvGraphicFramePr>
          <p:cNvPr id="3" name="Tableau 2">
            <a:extLst>
              <a:ext uri="{FF2B5EF4-FFF2-40B4-BE49-F238E27FC236}">
                <a16:creationId xmlns:a16="http://schemas.microsoft.com/office/drawing/2014/main" id="{81D72AA3-7602-4A87-B0BB-ECA44B913E49}"/>
              </a:ext>
            </a:extLst>
          </p:cNvPr>
          <p:cNvGraphicFramePr>
            <a:graphicFrameLocks noGrp="1"/>
          </p:cNvGraphicFramePr>
          <p:nvPr>
            <p:extLst>
              <p:ext uri="{D42A27DB-BD31-4B8C-83A1-F6EECF244321}">
                <p14:modId xmlns:p14="http://schemas.microsoft.com/office/powerpoint/2010/main" val="511929038"/>
              </p:ext>
            </p:extLst>
          </p:nvPr>
        </p:nvGraphicFramePr>
        <p:xfrm>
          <a:off x="581025" y="1926081"/>
          <a:ext cx="6446310" cy="3909570"/>
        </p:xfrm>
        <a:graphic>
          <a:graphicData uri="http://schemas.openxmlformats.org/drawingml/2006/table">
            <a:tbl>
              <a:tblPr firstRow="1" firstCol="1" bandRow="1">
                <a:tableStyleId>{5C22544A-7EE6-4342-B048-85BDC9FD1C3A}</a:tableStyleId>
              </a:tblPr>
              <a:tblGrid>
                <a:gridCol w="1289262">
                  <a:extLst>
                    <a:ext uri="{9D8B030D-6E8A-4147-A177-3AD203B41FA5}">
                      <a16:colId xmlns:a16="http://schemas.microsoft.com/office/drawing/2014/main" val="699929223"/>
                    </a:ext>
                  </a:extLst>
                </a:gridCol>
                <a:gridCol w="1289262">
                  <a:extLst>
                    <a:ext uri="{9D8B030D-6E8A-4147-A177-3AD203B41FA5}">
                      <a16:colId xmlns:a16="http://schemas.microsoft.com/office/drawing/2014/main" val="2452957181"/>
                    </a:ext>
                  </a:extLst>
                </a:gridCol>
                <a:gridCol w="1289262">
                  <a:extLst>
                    <a:ext uri="{9D8B030D-6E8A-4147-A177-3AD203B41FA5}">
                      <a16:colId xmlns:a16="http://schemas.microsoft.com/office/drawing/2014/main" val="3359085033"/>
                    </a:ext>
                  </a:extLst>
                </a:gridCol>
                <a:gridCol w="1289262">
                  <a:extLst>
                    <a:ext uri="{9D8B030D-6E8A-4147-A177-3AD203B41FA5}">
                      <a16:colId xmlns:a16="http://schemas.microsoft.com/office/drawing/2014/main" val="3461559544"/>
                    </a:ext>
                  </a:extLst>
                </a:gridCol>
                <a:gridCol w="1289262">
                  <a:extLst>
                    <a:ext uri="{9D8B030D-6E8A-4147-A177-3AD203B41FA5}">
                      <a16:colId xmlns:a16="http://schemas.microsoft.com/office/drawing/2014/main" val="4138824026"/>
                    </a:ext>
                  </a:extLst>
                </a:gridCol>
              </a:tblGrid>
              <a:tr h="781914">
                <a:tc>
                  <a:txBody>
                    <a:bodyPr/>
                    <a:lstStyle/>
                    <a:p>
                      <a:pPr marL="0" marR="0" algn="ctr">
                        <a:lnSpc>
                          <a:spcPct val="107000"/>
                        </a:lnSpc>
                        <a:spcBef>
                          <a:spcPts val="0"/>
                        </a:spcBef>
                        <a:spcAft>
                          <a:spcPts val="2400"/>
                        </a:spcAft>
                      </a:pPr>
                      <a:r>
                        <a:rPr lang="fr-CM" sz="1400" dirty="0">
                          <a:effectLst/>
                        </a:rPr>
                        <a:t>VLAN</a:t>
                      </a:r>
                      <a:endParaRPr lang="fr-CM"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Équipement cible</a:t>
                      </a:r>
                      <a:endParaRPr lang="fr-CM"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Catégorie de Client</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Plages d'adresses IP utilisables</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Nombre d'IP</a:t>
                      </a:r>
                      <a:endParaRPr lang="fr-CM" sz="18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34930320"/>
                  </a:ext>
                </a:extLst>
              </a:tr>
              <a:tr h="781914">
                <a:tc>
                  <a:txBody>
                    <a:bodyPr/>
                    <a:lstStyle/>
                    <a:p>
                      <a:pPr marL="0" marR="0" algn="ctr">
                        <a:lnSpc>
                          <a:spcPct val="107000"/>
                        </a:lnSpc>
                        <a:spcBef>
                          <a:spcPts val="0"/>
                        </a:spcBef>
                        <a:spcAft>
                          <a:spcPts val="2400"/>
                        </a:spcAft>
                      </a:pPr>
                      <a:r>
                        <a:rPr lang="fr-CM" sz="1400">
                          <a:effectLst/>
                        </a:rPr>
                        <a:t>VLAN 200 (Base 1)</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R-BRAS</a:t>
                      </a:r>
                      <a:endParaRPr lang="fr-CM"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Standard</a:t>
                      </a:r>
                      <a:endParaRPr lang="fr-CM"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.3, .5, .6</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3</a:t>
                      </a:r>
                      <a:endParaRPr lang="fr-CM" sz="18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924234622"/>
                  </a:ext>
                </a:extLst>
              </a:tr>
              <a:tr h="781914">
                <a:tc>
                  <a:txBody>
                    <a:bodyPr/>
                    <a:lstStyle/>
                    <a:p>
                      <a:pPr marL="0" marR="0" algn="ctr">
                        <a:lnSpc>
                          <a:spcPct val="107000"/>
                        </a:lnSpc>
                        <a:spcBef>
                          <a:spcPts val="0"/>
                        </a:spcBef>
                        <a:spcAft>
                          <a:spcPts val="2400"/>
                        </a:spcAft>
                      </a:pPr>
                      <a:r>
                        <a:rPr lang="fr-CM" sz="1400">
                          <a:effectLst/>
                        </a:rPr>
                        <a:t>VLAN 200 (Base 1)</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R-VIP</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VIP</a:t>
                      </a:r>
                      <a:endParaRPr lang="fr-CM"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.8, .10 à .14</a:t>
                      </a:r>
                      <a:endParaRPr lang="fr-CM"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6</a:t>
                      </a:r>
                      <a:endParaRPr lang="fr-CM" sz="18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305586434"/>
                  </a:ext>
                </a:extLst>
              </a:tr>
              <a:tr h="781914">
                <a:tc>
                  <a:txBody>
                    <a:bodyPr/>
                    <a:lstStyle/>
                    <a:p>
                      <a:pPr marL="0" marR="0" algn="ctr">
                        <a:lnSpc>
                          <a:spcPct val="107000"/>
                        </a:lnSpc>
                        <a:spcBef>
                          <a:spcPts val="0"/>
                        </a:spcBef>
                        <a:spcAft>
                          <a:spcPts val="2400"/>
                        </a:spcAft>
                      </a:pPr>
                      <a:r>
                        <a:rPr lang="fr-CM" sz="1400">
                          <a:effectLst/>
                        </a:rPr>
                        <a:t>VLAN 400 (Base 2)</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R-BRAS</a:t>
                      </a:r>
                      <a:endParaRPr lang="fr-CM"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Standard</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.7 à .14</a:t>
                      </a:r>
                      <a:endParaRPr lang="fr-CM"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8</a:t>
                      </a:r>
                      <a:endParaRPr lang="fr-CM" sz="18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896029226"/>
                  </a:ext>
                </a:extLst>
              </a:tr>
              <a:tr h="781914">
                <a:tc>
                  <a:txBody>
                    <a:bodyPr/>
                    <a:lstStyle/>
                    <a:p>
                      <a:pPr marL="0" marR="0" algn="ctr">
                        <a:lnSpc>
                          <a:spcPct val="107000"/>
                        </a:lnSpc>
                        <a:spcBef>
                          <a:spcPts val="0"/>
                        </a:spcBef>
                        <a:spcAft>
                          <a:spcPts val="2400"/>
                        </a:spcAft>
                      </a:pPr>
                      <a:r>
                        <a:rPr lang="fr-CM" sz="1400">
                          <a:effectLst/>
                        </a:rPr>
                        <a:t>VLAN 400 (Base 2)</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R-VIP</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VIP</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a:effectLst/>
                        </a:rPr>
                        <a:t>.5</a:t>
                      </a:r>
                      <a:endParaRPr lang="fr-CM" sz="1800">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lgn="ctr">
                        <a:lnSpc>
                          <a:spcPct val="107000"/>
                        </a:lnSpc>
                        <a:spcBef>
                          <a:spcPts val="0"/>
                        </a:spcBef>
                        <a:spcAft>
                          <a:spcPts val="2400"/>
                        </a:spcAft>
                      </a:pPr>
                      <a:r>
                        <a:rPr lang="fr-CM" sz="1400" dirty="0">
                          <a:effectLst/>
                        </a:rPr>
                        <a:t>1</a:t>
                      </a:r>
                      <a:endParaRPr lang="fr-CM" sz="18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444936854"/>
                  </a:ext>
                </a:extLst>
              </a:tr>
            </a:tbl>
          </a:graphicData>
        </a:graphic>
      </p:graphicFrame>
    </p:spTree>
    <p:extLst>
      <p:ext uri="{BB962C8B-B14F-4D97-AF65-F5344CB8AC3E}">
        <p14:creationId xmlns:p14="http://schemas.microsoft.com/office/powerpoint/2010/main" val="1357890874"/>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4.1- Phase 1:  Fiabilisation de l’infrastructure</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406584" y="2319686"/>
            <a:ext cx="4440607" cy="2569934"/>
          </a:xfrm>
          <a:prstGeom prst="rect">
            <a:avLst/>
          </a:prstGeom>
          <a:noFill/>
        </p:spPr>
        <p:txBody>
          <a:bodyPr wrap="square" rtlCol="0">
            <a:spAutoFit/>
          </a:bodyPr>
          <a:lstStyle/>
          <a:p>
            <a:pPr marL="342900" indent="-342900" algn="just" rtl="0">
              <a:buFont typeface="Arial" panose="020B0604020202020204" pitchFamily="34" charset="0"/>
              <a:buChar char="•"/>
            </a:pPr>
            <a:r>
              <a:rPr lang="fr-FR" sz="2300" b="1" dirty="0"/>
              <a:t>Qualité de Service Hiérarchique (</a:t>
            </a:r>
            <a:r>
              <a:rPr lang="fr-FR" sz="2300" b="1" dirty="0" err="1"/>
              <a:t>HQoS</a:t>
            </a:r>
            <a:r>
              <a:rPr lang="fr-FR" sz="2300" b="1" dirty="0"/>
              <a:t>) : </a:t>
            </a:r>
            <a:r>
              <a:rPr lang="fr-FR" sz="2300" dirty="0" err="1"/>
              <a:t>Communities</a:t>
            </a:r>
            <a:r>
              <a:rPr lang="fr-FR" sz="2300" dirty="0"/>
              <a:t> BGP par base client + Traffic </a:t>
            </a:r>
            <a:r>
              <a:rPr lang="fr-FR" sz="2300" dirty="0" err="1"/>
              <a:t>Shaping</a:t>
            </a:r>
            <a:r>
              <a:rPr lang="fr-FR" sz="2300" dirty="0"/>
              <a:t> et file d'attente prioritaire (LLQ) garantissant la bande passante des clients VIP</a:t>
            </a:r>
            <a:endParaRPr lang="fr-CM" sz="2300" dirty="0"/>
          </a:p>
        </p:txBody>
      </p:sp>
      <p:pic>
        <p:nvPicPr>
          <p:cNvPr id="10" name="Image 9">
            <a:extLst>
              <a:ext uri="{FF2B5EF4-FFF2-40B4-BE49-F238E27FC236}">
                <a16:creationId xmlns:a16="http://schemas.microsoft.com/office/drawing/2014/main" id="{48F9A9CA-4027-4772-8D74-9796D02BE175}"/>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728134" y="1760383"/>
            <a:ext cx="5367866" cy="4969655"/>
          </a:xfrm>
          <a:prstGeom prst="rect">
            <a:avLst/>
          </a:prstGeom>
          <a:noFill/>
          <a:ln>
            <a:noFill/>
          </a:ln>
        </p:spPr>
      </p:pic>
    </p:spTree>
    <p:extLst>
      <p:ext uri="{BB962C8B-B14F-4D97-AF65-F5344CB8AC3E}">
        <p14:creationId xmlns:p14="http://schemas.microsoft.com/office/powerpoint/2010/main" val="3438426930"/>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4.2- Phase 2: Ingénierie du trafic BGP pour le </a:t>
            </a:r>
            <a:r>
              <a:rPr lang="fr-FR" sz="2400" b="0" kern="1200" cap="all" dirty="0" err="1">
                <a:solidFill>
                  <a:srgbClr val="FFFFFF"/>
                </a:solidFill>
                <a:effectLst/>
                <a:latin typeface="Gill Sans MT" panose="020B0502020104020203" pitchFamily="34" charset="0"/>
                <a:ea typeface="+mj-ea"/>
                <a:cs typeface="+mj-cs"/>
              </a:rPr>
              <a:t>peering</a:t>
            </a:r>
            <a:r>
              <a:rPr lang="fr-FR" sz="2400" b="0" kern="1200" cap="all" dirty="0">
                <a:solidFill>
                  <a:srgbClr val="FFFFFF"/>
                </a:solidFill>
                <a:effectLst/>
                <a:latin typeface="Gill Sans MT" panose="020B0502020104020203" pitchFamily="34" charset="0"/>
                <a:ea typeface="+mj-ea"/>
                <a:cs typeface="+mj-cs"/>
              </a:rPr>
              <a:t> FAI-CDN</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712363" y="1810464"/>
            <a:ext cx="4440607" cy="4339650"/>
          </a:xfrm>
          <a:prstGeom prst="rect">
            <a:avLst/>
          </a:prstGeom>
          <a:noFill/>
        </p:spPr>
        <p:txBody>
          <a:bodyPr wrap="square" rtlCol="0">
            <a:spAutoFit/>
          </a:bodyPr>
          <a:lstStyle/>
          <a:p>
            <a:pPr algn="just" rtl="0"/>
            <a:r>
              <a:rPr lang="fr-FR" sz="2300" dirty="0"/>
              <a:t>La seconde phase agit directement sur les attributs BGP qui gouvernent le choix des chemins vers les fournisseurs de contenu :</a:t>
            </a:r>
          </a:p>
          <a:p>
            <a:pPr algn="just" rtl="0"/>
            <a:endParaRPr lang="fr-FR" sz="2300" dirty="0"/>
          </a:p>
          <a:p>
            <a:pPr marL="342900" indent="-342900" algn="just" rtl="0">
              <a:buFont typeface="Arial" panose="020B0604020202020204" pitchFamily="34" charset="0"/>
              <a:buChar char="•"/>
            </a:pPr>
            <a:r>
              <a:rPr lang="fr-FR" sz="2300" b="1" dirty="0"/>
              <a:t>Ingénierie sortante (Local </a:t>
            </a:r>
            <a:r>
              <a:rPr lang="fr-FR" sz="2300" b="1" dirty="0" err="1"/>
              <a:t>Preference</a:t>
            </a:r>
            <a:r>
              <a:rPr lang="fr-FR" sz="2300" b="1" dirty="0"/>
              <a:t> = 300) </a:t>
            </a:r>
            <a:r>
              <a:rPr lang="fr-FR" sz="2300" dirty="0"/>
              <a:t>: une Route-</a:t>
            </a:r>
            <a:r>
              <a:rPr lang="fr-FR" sz="2300" dirty="0" err="1"/>
              <a:t>Map</a:t>
            </a:r>
            <a:r>
              <a:rPr lang="fr-FR" sz="2300" dirty="0"/>
              <a:t> appliquée sur la session SAFITEL canalise systématiquement le trafic lourd vers les CDN sur l'autoroute de 600 Mbps</a:t>
            </a:r>
            <a:endParaRPr lang="fr-CM" sz="2300" dirty="0"/>
          </a:p>
        </p:txBody>
      </p:sp>
      <p:pic>
        <p:nvPicPr>
          <p:cNvPr id="10" name="Image 9">
            <a:extLst>
              <a:ext uri="{FF2B5EF4-FFF2-40B4-BE49-F238E27FC236}">
                <a16:creationId xmlns:a16="http://schemas.microsoft.com/office/drawing/2014/main" id="{A6FDCFBD-C326-47AB-A7F9-F07AB817D76C}"/>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2347" y="1926080"/>
            <a:ext cx="7380016" cy="4576320"/>
          </a:xfrm>
          <a:prstGeom prst="rect">
            <a:avLst/>
          </a:prstGeom>
          <a:noFill/>
          <a:ln>
            <a:noFill/>
          </a:ln>
        </p:spPr>
      </p:pic>
    </p:spTree>
    <p:extLst>
      <p:ext uri="{BB962C8B-B14F-4D97-AF65-F5344CB8AC3E}">
        <p14:creationId xmlns:p14="http://schemas.microsoft.com/office/powerpoint/2010/main" val="1225634493"/>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4.2- Phase 2: Ingénierie du trafic BGP pour le </a:t>
            </a:r>
            <a:r>
              <a:rPr lang="fr-FR" sz="2400" b="0" kern="1200" cap="all" dirty="0" err="1">
                <a:solidFill>
                  <a:srgbClr val="FFFFFF"/>
                </a:solidFill>
                <a:effectLst/>
                <a:latin typeface="Gill Sans MT" panose="020B0502020104020203" pitchFamily="34" charset="0"/>
                <a:ea typeface="+mj-ea"/>
                <a:cs typeface="+mj-cs"/>
              </a:rPr>
              <a:t>peering</a:t>
            </a:r>
            <a:r>
              <a:rPr lang="fr-FR" sz="2400" b="0" kern="1200" cap="all" dirty="0">
                <a:solidFill>
                  <a:srgbClr val="FFFFFF"/>
                </a:solidFill>
                <a:effectLst/>
                <a:latin typeface="Gill Sans MT" panose="020B0502020104020203" pitchFamily="34" charset="0"/>
                <a:ea typeface="+mj-ea"/>
                <a:cs typeface="+mj-cs"/>
              </a:rPr>
              <a:t> FAI-CDN</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712363" y="1810464"/>
            <a:ext cx="4440607" cy="4339650"/>
          </a:xfrm>
          <a:prstGeom prst="rect">
            <a:avLst/>
          </a:prstGeom>
          <a:noFill/>
        </p:spPr>
        <p:txBody>
          <a:bodyPr wrap="square" rtlCol="0">
            <a:spAutoFit/>
          </a:bodyPr>
          <a:lstStyle/>
          <a:p>
            <a:pPr algn="just" rtl="0"/>
            <a:r>
              <a:rPr lang="fr-FR" sz="2300" dirty="0"/>
              <a:t>La seconde phase agit directement sur les attributs BGP qui gouvernent le choix des chemins vers les fournisseurs de contenu :</a:t>
            </a:r>
          </a:p>
          <a:p>
            <a:pPr algn="just" rtl="0"/>
            <a:endParaRPr lang="fr-FR" sz="2300" dirty="0"/>
          </a:p>
          <a:p>
            <a:pPr marL="342900" indent="-342900" algn="just" rtl="0">
              <a:buFont typeface="Arial" panose="020B0604020202020204" pitchFamily="34" charset="0"/>
              <a:buChar char="•"/>
            </a:pPr>
            <a:r>
              <a:rPr lang="fr-FR" sz="2300" b="1" dirty="0"/>
              <a:t>Ingénierie sortante (Local </a:t>
            </a:r>
            <a:r>
              <a:rPr lang="fr-FR" sz="2300" b="1" dirty="0" err="1"/>
              <a:t>Preference</a:t>
            </a:r>
            <a:r>
              <a:rPr lang="fr-FR" sz="2300" b="1" dirty="0"/>
              <a:t> = 300) </a:t>
            </a:r>
            <a:r>
              <a:rPr lang="fr-FR" sz="2300" dirty="0"/>
              <a:t>: une Route-</a:t>
            </a:r>
            <a:r>
              <a:rPr lang="fr-FR" sz="2300" dirty="0" err="1"/>
              <a:t>Map</a:t>
            </a:r>
            <a:r>
              <a:rPr lang="fr-FR" sz="2300" dirty="0"/>
              <a:t> appliquée sur la session SAFITEL canalise systématiquement le trafic lourd vers les CDN sur l'autoroute de 600 Mbps</a:t>
            </a:r>
            <a:endParaRPr lang="fr-CM" sz="2300" dirty="0"/>
          </a:p>
        </p:txBody>
      </p:sp>
      <p:pic>
        <p:nvPicPr>
          <p:cNvPr id="9" name="Image 8">
            <a:extLst>
              <a:ext uri="{FF2B5EF4-FFF2-40B4-BE49-F238E27FC236}">
                <a16:creationId xmlns:a16="http://schemas.microsoft.com/office/drawing/2014/main" id="{F70A7D3A-375E-403E-9F3B-DA5F6484FEB8}"/>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354436" y="1900680"/>
            <a:ext cx="7357927" cy="4652520"/>
          </a:xfrm>
          <a:prstGeom prst="rect">
            <a:avLst/>
          </a:prstGeom>
          <a:noFill/>
          <a:ln>
            <a:noFill/>
          </a:ln>
        </p:spPr>
      </p:pic>
    </p:spTree>
    <p:extLst>
      <p:ext uri="{BB962C8B-B14F-4D97-AF65-F5344CB8AC3E}">
        <p14:creationId xmlns:p14="http://schemas.microsoft.com/office/powerpoint/2010/main" val="2938599924"/>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4.2- Phase 2: Ingénierie du trafic BGP pour le </a:t>
            </a:r>
            <a:r>
              <a:rPr lang="fr-FR" sz="2400" b="0" kern="1200" cap="all" dirty="0" err="1">
                <a:solidFill>
                  <a:srgbClr val="FFFFFF"/>
                </a:solidFill>
                <a:effectLst/>
                <a:latin typeface="Gill Sans MT" panose="020B0502020104020203" pitchFamily="34" charset="0"/>
                <a:ea typeface="+mj-ea"/>
                <a:cs typeface="+mj-cs"/>
              </a:rPr>
              <a:t>peering</a:t>
            </a:r>
            <a:r>
              <a:rPr lang="fr-FR" sz="2400" b="0" kern="1200" cap="all" dirty="0">
                <a:solidFill>
                  <a:srgbClr val="FFFFFF"/>
                </a:solidFill>
                <a:effectLst/>
                <a:latin typeface="Gill Sans MT" panose="020B0502020104020203" pitchFamily="34" charset="0"/>
                <a:ea typeface="+mj-ea"/>
                <a:cs typeface="+mj-cs"/>
              </a:rPr>
              <a:t> FAI-CDN</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712363" y="1810464"/>
            <a:ext cx="4440607" cy="4339650"/>
          </a:xfrm>
          <a:prstGeom prst="rect">
            <a:avLst/>
          </a:prstGeom>
          <a:noFill/>
        </p:spPr>
        <p:txBody>
          <a:bodyPr wrap="square" rtlCol="0">
            <a:spAutoFit/>
          </a:bodyPr>
          <a:lstStyle/>
          <a:p>
            <a:pPr algn="just" rtl="0"/>
            <a:r>
              <a:rPr lang="fr-FR" sz="2300" dirty="0"/>
              <a:t>La seconde phase agit directement sur les attributs BGP qui gouvernent le choix des chemins vers les fournisseurs de contenu :</a:t>
            </a:r>
          </a:p>
          <a:p>
            <a:pPr algn="just" rtl="0"/>
            <a:endParaRPr lang="fr-FR" sz="2300" dirty="0"/>
          </a:p>
          <a:p>
            <a:pPr marL="342900" indent="-342900" algn="just" rtl="0">
              <a:buFont typeface="Arial" panose="020B0604020202020204" pitchFamily="34" charset="0"/>
              <a:buChar char="•"/>
            </a:pPr>
            <a:r>
              <a:rPr lang="fr-FR" sz="2300" b="1" dirty="0"/>
              <a:t>Ingénierie sortante (Local </a:t>
            </a:r>
            <a:r>
              <a:rPr lang="fr-FR" sz="2300" b="1" dirty="0" err="1"/>
              <a:t>Preference</a:t>
            </a:r>
            <a:r>
              <a:rPr lang="fr-FR" sz="2300" b="1" dirty="0"/>
              <a:t> = 300) </a:t>
            </a:r>
            <a:r>
              <a:rPr lang="fr-FR" sz="2300" dirty="0"/>
              <a:t>: une Route-</a:t>
            </a:r>
            <a:r>
              <a:rPr lang="fr-FR" sz="2300" dirty="0" err="1"/>
              <a:t>Map</a:t>
            </a:r>
            <a:r>
              <a:rPr lang="fr-FR" sz="2300" dirty="0"/>
              <a:t> appliquée sur la session SAFITEL canalise systématiquement le trafic lourd vers les CDN sur l'autoroute de 600 Mbps</a:t>
            </a:r>
            <a:endParaRPr lang="fr-CM" sz="2300" dirty="0"/>
          </a:p>
        </p:txBody>
      </p:sp>
      <p:pic>
        <p:nvPicPr>
          <p:cNvPr id="10" name="Image 9">
            <a:extLst>
              <a:ext uri="{FF2B5EF4-FFF2-40B4-BE49-F238E27FC236}">
                <a16:creationId xmlns:a16="http://schemas.microsoft.com/office/drawing/2014/main" id="{B4439801-036F-4244-A246-219DE499A5FC}"/>
              </a:ext>
            </a:extLst>
          </p:cNvPr>
          <p:cNvPicPr/>
          <p:nvPr/>
        </p:nvPicPr>
        <p:blipFill>
          <a:blip r:embed="rId6"/>
          <a:stretch>
            <a:fillRect/>
          </a:stretch>
        </p:blipFill>
        <p:spPr>
          <a:xfrm>
            <a:off x="353907" y="1717991"/>
            <a:ext cx="7740227" cy="4835210"/>
          </a:xfrm>
          <a:prstGeom prst="rect">
            <a:avLst/>
          </a:prstGeom>
        </p:spPr>
      </p:pic>
    </p:spTree>
    <p:extLst>
      <p:ext uri="{BB962C8B-B14F-4D97-AF65-F5344CB8AC3E}">
        <p14:creationId xmlns:p14="http://schemas.microsoft.com/office/powerpoint/2010/main" val="362234357"/>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4.2- Phase 2: Ingénierie du trafic BGP pour le </a:t>
            </a:r>
            <a:r>
              <a:rPr lang="fr-FR" sz="2400" b="0" kern="1200" cap="all" dirty="0" err="1">
                <a:solidFill>
                  <a:srgbClr val="FFFFFF"/>
                </a:solidFill>
                <a:effectLst/>
                <a:latin typeface="Gill Sans MT" panose="020B0502020104020203" pitchFamily="34" charset="0"/>
                <a:ea typeface="+mj-ea"/>
                <a:cs typeface="+mj-cs"/>
              </a:rPr>
              <a:t>peering</a:t>
            </a:r>
            <a:r>
              <a:rPr lang="fr-FR" sz="2400" b="0" kern="1200" cap="all" dirty="0">
                <a:solidFill>
                  <a:srgbClr val="FFFFFF"/>
                </a:solidFill>
                <a:effectLst/>
                <a:latin typeface="Gill Sans MT" panose="020B0502020104020203" pitchFamily="34" charset="0"/>
                <a:ea typeface="+mj-ea"/>
                <a:cs typeface="+mj-cs"/>
              </a:rPr>
              <a:t> FAI-CDN</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7170202" y="2796277"/>
            <a:ext cx="4440607" cy="2215991"/>
          </a:xfrm>
          <a:prstGeom prst="rect">
            <a:avLst/>
          </a:prstGeom>
          <a:noFill/>
        </p:spPr>
        <p:txBody>
          <a:bodyPr wrap="square" rtlCol="0">
            <a:spAutoFit/>
          </a:bodyPr>
          <a:lstStyle/>
          <a:p>
            <a:pPr marL="342900" indent="-342900" algn="just" rtl="0">
              <a:buFont typeface="Arial" panose="020B0604020202020204" pitchFamily="34" charset="0"/>
              <a:buChar char="•"/>
            </a:pPr>
            <a:r>
              <a:rPr lang="fr-FR" sz="2300" b="1" dirty="0"/>
              <a:t>Ingénierie entrante (AS-Path </a:t>
            </a:r>
            <a:r>
              <a:rPr lang="fr-FR" sz="2300" b="1" dirty="0" err="1"/>
              <a:t>Prepending</a:t>
            </a:r>
            <a:r>
              <a:rPr lang="fr-FR" sz="2300" b="1" dirty="0"/>
              <a:t>) </a:t>
            </a:r>
            <a:r>
              <a:rPr lang="fr-FR" sz="2300" dirty="0"/>
              <a:t>: l'allongement artificiel du chemin annoncé à CAMTEL dissuade les routeurs mondiaux d'y envoyer les flux descendants massifs</a:t>
            </a:r>
            <a:endParaRPr lang="fr-CM" sz="2300" dirty="0"/>
          </a:p>
        </p:txBody>
      </p:sp>
      <p:pic>
        <p:nvPicPr>
          <p:cNvPr id="10" name="Image 9">
            <a:extLst>
              <a:ext uri="{FF2B5EF4-FFF2-40B4-BE49-F238E27FC236}">
                <a16:creationId xmlns:a16="http://schemas.microsoft.com/office/drawing/2014/main" id="{09C91857-45E1-45FF-8485-FAF6814E1E44}"/>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235155" y="1823585"/>
            <a:ext cx="6935047" cy="4753696"/>
          </a:xfrm>
          <a:prstGeom prst="rect">
            <a:avLst/>
          </a:prstGeom>
          <a:noFill/>
          <a:ln>
            <a:noFill/>
          </a:ln>
        </p:spPr>
      </p:pic>
    </p:spTree>
    <p:extLst>
      <p:ext uri="{BB962C8B-B14F-4D97-AF65-F5344CB8AC3E}">
        <p14:creationId xmlns:p14="http://schemas.microsoft.com/office/powerpoint/2010/main" val="1937394052"/>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normAutofit/>
          </a:bodyPr>
          <a:lstStyle/>
          <a:p>
            <a:pPr algn="ctr" rtl="0"/>
            <a:r>
              <a:rPr lang="fr-FR" sz="2400" b="0" kern="1200" cap="all" dirty="0">
                <a:solidFill>
                  <a:srgbClr val="FFFFFF"/>
                </a:solidFill>
                <a:effectLst/>
                <a:latin typeface="Gill Sans MT" panose="020B0502020104020203" pitchFamily="34" charset="0"/>
                <a:ea typeface="+mj-ea"/>
                <a:cs typeface="+mj-cs"/>
              </a:rPr>
              <a:t>4.2- Phase 2: Ingénierie du trafic BGP pour le </a:t>
            </a:r>
            <a:r>
              <a:rPr lang="fr-FR" sz="2400" b="0" kern="1200" cap="all" dirty="0" err="1">
                <a:solidFill>
                  <a:srgbClr val="FFFFFF"/>
                </a:solidFill>
                <a:effectLst/>
                <a:latin typeface="Gill Sans MT" panose="020B0502020104020203" pitchFamily="34" charset="0"/>
                <a:ea typeface="+mj-ea"/>
                <a:cs typeface="+mj-cs"/>
              </a:rPr>
              <a:t>peering</a:t>
            </a:r>
            <a:r>
              <a:rPr lang="fr-FR" sz="2400" b="0" kern="1200" cap="all" dirty="0">
                <a:solidFill>
                  <a:srgbClr val="FFFFFF"/>
                </a:solidFill>
                <a:effectLst/>
                <a:latin typeface="Gill Sans MT" panose="020B0502020104020203" pitchFamily="34" charset="0"/>
                <a:ea typeface="+mj-ea"/>
                <a:cs typeface="+mj-cs"/>
              </a:rPr>
              <a:t> FAI-CDN</a:t>
            </a:r>
            <a:endParaRPr lang="fr-FR" sz="3600" dirty="0"/>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8094134" y="2472443"/>
            <a:ext cx="4042882" cy="2677656"/>
          </a:xfrm>
          <a:prstGeom prst="rect">
            <a:avLst/>
          </a:prstGeom>
          <a:noFill/>
        </p:spPr>
        <p:txBody>
          <a:bodyPr wrap="square" rtlCol="0">
            <a:spAutoFit/>
          </a:bodyPr>
          <a:lstStyle/>
          <a:p>
            <a:pPr marL="342900" indent="-342900" algn="just" rtl="0">
              <a:buFont typeface="Arial" panose="020B0604020202020204" pitchFamily="34" charset="0"/>
              <a:buChar char="•"/>
            </a:pPr>
            <a:r>
              <a:rPr lang="fr-FR" sz="2400" b="1" dirty="0"/>
              <a:t>Exceptions de proximité géographique</a:t>
            </a:r>
            <a:r>
              <a:rPr lang="fr-FR" sz="2400" dirty="0"/>
              <a:t> : des règles ciblées garantissent le chemin le plus court pour les CDN directement raccordés à un opérateur spécifique</a:t>
            </a:r>
            <a:endParaRPr lang="fr-CM" sz="2300" dirty="0"/>
          </a:p>
        </p:txBody>
      </p:sp>
      <p:pic>
        <p:nvPicPr>
          <p:cNvPr id="9" name="Image 8">
            <a:extLst>
              <a:ext uri="{FF2B5EF4-FFF2-40B4-BE49-F238E27FC236}">
                <a16:creationId xmlns:a16="http://schemas.microsoft.com/office/drawing/2014/main" id="{C67FBB44-860B-4577-8688-302A0B0AABD1}"/>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1101" y="1823585"/>
            <a:ext cx="7693032" cy="5008948"/>
          </a:xfrm>
          <a:prstGeom prst="rect">
            <a:avLst/>
          </a:prstGeom>
          <a:noFill/>
          <a:ln>
            <a:noFill/>
          </a:ln>
        </p:spPr>
      </p:pic>
    </p:spTree>
    <p:extLst>
      <p:ext uri="{BB962C8B-B14F-4D97-AF65-F5344CB8AC3E}">
        <p14:creationId xmlns:p14="http://schemas.microsoft.com/office/powerpoint/2010/main" val="1225926133"/>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au contenu 4" descr="Valeurs numériqu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aphicFrame>
        <p:nvGraphicFramePr>
          <p:cNvPr id="6" name="Espace réservé au contenu 5" descr="Graphique 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296766686"/>
              </p:ext>
            </p:extLst>
          </p:nvPr>
        </p:nvGraphicFramePr>
        <p:xfrm>
          <a:off x="719570" y="2198254"/>
          <a:ext cx="8119630"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Image 9">
            <a:extLst>
              <a:ext uri="{FF2B5EF4-FFF2-40B4-BE49-F238E27FC236}">
                <a16:creationId xmlns:a16="http://schemas.microsoft.com/office/drawing/2014/main" id="{48BF8250-294D-4827-8A0B-B46A16C97F25}"/>
              </a:ext>
            </a:extLst>
          </p:cNvPr>
          <p:cNvPicPr>
            <a:picLocks noChangeAspect="1"/>
          </p:cNvPicPr>
          <p:nvPr/>
        </p:nvPicPr>
        <p:blipFill>
          <a:blip r:embed="rId9"/>
          <a:stretch>
            <a:fillRect/>
          </a:stretch>
        </p:blipFill>
        <p:spPr>
          <a:xfrm>
            <a:off x="64863" y="53176"/>
            <a:ext cx="1032661" cy="1030725"/>
          </a:xfrm>
          <a:prstGeom prst="rect">
            <a:avLst/>
          </a:prstGeom>
        </p:spPr>
      </p:pic>
      <p:pic>
        <p:nvPicPr>
          <p:cNvPr id="11" name="Image 10">
            <a:extLst>
              <a:ext uri="{FF2B5EF4-FFF2-40B4-BE49-F238E27FC236}">
                <a16:creationId xmlns:a16="http://schemas.microsoft.com/office/drawing/2014/main" id="{5E5198CE-DAFD-4E08-A881-B61E690926FE}"/>
              </a:ext>
            </a:extLst>
          </p:cNvPr>
          <p:cNvPicPr>
            <a:picLocks noChangeAspect="1"/>
          </p:cNvPicPr>
          <p:nvPr/>
        </p:nvPicPr>
        <p:blipFill>
          <a:blip r:embed="rId10"/>
          <a:stretch>
            <a:fillRect/>
          </a:stretch>
        </p:blipFill>
        <p:spPr>
          <a:xfrm>
            <a:off x="1097524" y="127962"/>
            <a:ext cx="1294589" cy="1093927"/>
          </a:xfrm>
          <a:prstGeom prst="rect">
            <a:avLst/>
          </a:prstGeom>
        </p:spPr>
      </p:pic>
      <p:pic>
        <p:nvPicPr>
          <p:cNvPr id="12" name="Image 11">
            <a:extLst>
              <a:ext uri="{FF2B5EF4-FFF2-40B4-BE49-F238E27FC236}">
                <a16:creationId xmlns:a16="http://schemas.microsoft.com/office/drawing/2014/main" id="{FAA5C716-CB73-4951-A3DD-AEAAFC598B15}"/>
              </a:ext>
            </a:extLst>
          </p:cNvPr>
          <p:cNvPicPr>
            <a:picLocks noChangeAspect="1"/>
          </p:cNvPicPr>
          <p:nvPr/>
        </p:nvPicPr>
        <p:blipFill>
          <a:blip r:embed="rId11"/>
          <a:stretch>
            <a:fillRect/>
          </a:stretch>
        </p:blipFill>
        <p:spPr>
          <a:xfrm>
            <a:off x="10238446" y="-24795"/>
            <a:ext cx="1914525" cy="923925"/>
          </a:xfrm>
          <a:prstGeom prst="rect">
            <a:avLst/>
          </a:prstGeom>
        </p:spPr>
      </p:pic>
      <p:pic>
        <p:nvPicPr>
          <p:cNvPr id="14" name="Image 13">
            <a:extLst>
              <a:ext uri="{FF2B5EF4-FFF2-40B4-BE49-F238E27FC236}">
                <a16:creationId xmlns:a16="http://schemas.microsoft.com/office/drawing/2014/main" id="{C275DDA1-2097-42A2-BDA5-ADBA55DBD847}"/>
              </a:ext>
            </a:extLst>
          </p:cNvPr>
          <p:cNvPicPr>
            <a:picLocks noChangeAspect="1"/>
          </p:cNvPicPr>
          <p:nvPr/>
        </p:nvPicPr>
        <p:blipFill>
          <a:blip r:embed="rId9"/>
          <a:stretch>
            <a:fillRect/>
          </a:stretch>
        </p:blipFill>
        <p:spPr>
          <a:xfrm>
            <a:off x="64863" y="25467"/>
            <a:ext cx="1032661" cy="1030725"/>
          </a:xfrm>
          <a:prstGeom prst="rect">
            <a:avLst/>
          </a:prstGeom>
        </p:spPr>
      </p:pic>
    </p:spTree>
    <p:extLst>
      <p:ext uri="{BB962C8B-B14F-4D97-AF65-F5344CB8AC3E}">
        <p14:creationId xmlns:p14="http://schemas.microsoft.com/office/powerpoint/2010/main" val="3386242031"/>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a:xfrm>
            <a:off x="581191" y="437167"/>
            <a:ext cx="11029616" cy="988332"/>
          </a:xfrm>
        </p:spPr>
        <p:txBody>
          <a:bodyPr rtlCol="0"/>
          <a:lstStyle/>
          <a:p>
            <a:pPr algn="ctr" rtl="0"/>
            <a:r>
              <a:rPr lang="fr-FR" dirty="0"/>
              <a:t>TABLEAU DE VALIDATION</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graphicFrame>
        <p:nvGraphicFramePr>
          <p:cNvPr id="10" name="Tableau 9">
            <a:extLst>
              <a:ext uri="{FF2B5EF4-FFF2-40B4-BE49-F238E27FC236}">
                <a16:creationId xmlns:a16="http://schemas.microsoft.com/office/drawing/2014/main" id="{27938299-4269-4D97-9822-1F829BD2DCDB}"/>
              </a:ext>
            </a:extLst>
          </p:cNvPr>
          <p:cNvGraphicFramePr>
            <a:graphicFrameLocks noGrp="1"/>
          </p:cNvGraphicFramePr>
          <p:nvPr>
            <p:extLst>
              <p:ext uri="{D42A27DB-BD31-4B8C-83A1-F6EECF244321}">
                <p14:modId xmlns:p14="http://schemas.microsoft.com/office/powerpoint/2010/main" val="2158820096"/>
              </p:ext>
            </p:extLst>
          </p:nvPr>
        </p:nvGraphicFramePr>
        <p:xfrm>
          <a:off x="778933" y="1425499"/>
          <a:ext cx="10397067" cy="5304540"/>
        </p:xfrm>
        <a:graphic>
          <a:graphicData uri="http://schemas.openxmlformats.org/drawingml/2006/table">
            <a:tbl>
              <a:tblPr firstRow="1" firstCol="1" bandRow="1">
                <a:tableStyleId>{5C22544A-7EE6-4342-B048-85BDC9FD1C3A}</a:tableStyleId>
              </a:tblPr>
              <a:tblGrid>
                <a:gridCol w="3465689">
                  <a:extLst>
                    <a:ext uri="{9D8B030D-6E8A-4147-A177-3AD203B41FA5}">
                      <a16:colId xmlns:a16="http://schemas.microsoft.com/office/drawing/2014/main" val="743546791"/>
                    </a:ext>
                  </a:extLst>
                </a:gridCol>
                <a:gridCol w="3465689">
                  <a:extLst>
                    <a:ext uri="{9D8B030D-6E8A-4147-A177-3AD203B41FA5}">
                      <a16:colId xmlns:a16="http://schemas.microsoft.com/office/drawing/2014/main" val="4121373644"/>
                    </a:ext>
                  </a:extLst>
                </a:gridCol>
                <a:gridCol w="3465689">
                  <a:extLst>
                    <a:ext uri="{9D8B030D-6E8A-4147-A177-3AD203B41FA5}">
                      <a16:colId xmlns:a16="http://schemas.microsoft.com/office/drawing/2014/main" val="1174168360"/>
                    </a:ext>
                  </a:extLst>
                </a:gridCol>
              </a:tblGrid>
              <a:tr h="504891">
                <a:tc>
                  <a:txBody>
                    <a:bodyPr/>
                    <a:lstStyle/>
                    <a:p>
                      <a:r>
                        <a:rPr lang="fr-FR" sz="1400"/>
                        <a:t>Exigence du cahier des charges</a:t>
                      </a:r>
                    </a:p>
                  </a:txBody>
                  <a:tcPr marL="53398" marR="53398" marT="26699" marB="26699" anchor="ctr"/>
                </a:tc>
                <a:tc>
                  <a:txBody>
                    <a:bodyPr/>
                    <a:lstStyle/>
                    <a:p>
                      <a:r>
                        <a:rPr lang="fr-CM" sz="1400"/>
                        <a:t>Solution technique apportée</a:t>
                      </a:r>
                    </a:p>
                  </a:txBody>
                  <a:tcPr marL="53398" marR="53398" marT="26699" marB="26699" anchor="ctr"/>
                </a:tc>
                <a:tc>
                  <a:txBody>
                    <a:bodyPr/>
                    <a:lstStyle/>
                    <a:p>
                      <a:r>
                        <a:rPr lang="fr-CM" sz="1400"/>
                        <a:t>Statut</a:t>
                      </a:r>
                    </a:p>
                  </a:txBody>
                  <a:tcPr marL="53398" marR="53398" marT="26699" marB="26699" anchor="ctr"/>
                </a:tc>
                <a:extLst>
                  <a:ext uri="{0D108BD9-81ED-4DB2-BD59-A6C34878D82A}">
                    <a16:rowId xmlns:a16="http://schemas.microsoft.com/office/drawing/2014/main" val="3715869989"/>
                  </a:ext>
                </a:extLst>
              </a:tr>
              <a:tr h="695702">
                <a:tc>
                  <a:txBody>
                    <a:bodyPr/>
                    <a:lstStyle/>
                    <a:p>
                      <a:r>
                        <a:rPr lang="fr-FR" sz="1400" dirty="0"/>
                        <a:t>Les deux liens fonctionnent simultanément avec équilibrage de charge</a:t>
                      </a:r>
                    </a:p>
                  </a:txBody>
                  <a:tcPr marL="53398" marR="53398" marT="26699" marB="26699" anchor="ctr"/>
                </a:tc>
                <a:tc>
                  <a:txBody>
                    <a:bodyPr/>
                    <a:lstStyle/>
                    <a:p>
                      <a:r>
                        <a:rPr lang="fr-FR" sz="1400"/>
                        <a:t>Local Preference + segmentation par Communities (Base 1/Base 2)</a:t>
                      </a:r>
                    </a:p>
                  </a:txBody>
                  <a:tcPr marL="53398" marR="53398" marT="26699" marB="26699" anchor="ctr"/>
                </a:tc>
                <a:tc>
                  <a:txBody>
                    <a:bodyPr/>
                    <a:lstStyle/>
                    <a:p>
                      <a:r>
                        <a:rPr lang="fr-CM" sz="1400"/>
                        <a:t>✅ Atteint</a:t>
                      </a:r>
                    </a:p>
                  </a:txBody>
                  <a:tcPr marL="53398" marR="53398" marT="26699" marB="26699" anchor="ctr"/>
                </a:tc>
                <a:extLst>
                  <a:ext uri="{0D108BD9-81ED-4DB2-BD59-A6C34878D82A}">
                    <a16:rowId xmlns:a16="http://schemas.microsoft.com/office/drawing/2014/main" val="3167795972"/>
                  </a:ext>
                </a:extLst>
              </a:tr>
              <a:tr h="591716">
                <a:tc>
                  <a:txBody>
                    <a:bodyPr/>
                    <a:lstStyle/>
                    <a:p>
                      <a:r>
                        <a:rPr lang="fr-FR" sz="1400"/>
                        <a:t>Bonne redondance, aucune interruption client en cas de panne</a:t>
                      </a:r>
                    </a:p>
                  </a:txBody>
                  <a:tcPr marL="53398" marR="53398" marT="26699" marB="26699" anchor="ctr"/>
                </a:tc>
                <a:tc>
                  <a:txBody>
                    <a:bodyPr/>
                    <a:lstStyle/>
                    <a:p>
                      <a:r>
                        <a:rPr lang="fr-FR" sz="1400"/>
                        <a:t>BFD (300ms) + minuteurs abaissés + Next-Hop-Self</a:t>
                      </a:r>
                    </a:p>
                  </a:txBody>
                  <a:tcPr marL="53398" marR="53398" marT="26699" marB="26699" anchor="ctr"/>
                </a:tc>
                <a:tc>
                  <a:txBody>
                    <a:bodyPr/>
                    <a:lstStyle/>
                    <a:p>
                      <a:r>
                        <a:rPr lang="fr-CM" sz="1400"/>
                        <a:t>✅ Atteint</a:t>
                      </a:r>
                    </a:p>
                  </a:txBody>
                  <a:tcPr marL="53398" marR="53398" marT="26699" marB="26699" anchor="ctr"/>
                </a:tc>
                <a:extLst>
                  <a:ext uri="{0D108BD9-81ED-4DB2-BD59-A6C34878D82A}">
                    <a16:rowId xmlns:a16="http://schemas.microsoft.com/office/drawing/2014/main" val="1197806728"/>
                  </a:ext>
                </a:extLst>
              </a:tr>
              <a:tr h="481658">
                <a:tc>
                  <a:txBody>
                    <a:bodyPr/>
                    <a:lstStyle/>
                    <a:p>
                      <a:r>
                        <a:rPr lang="fr-FR" sz="1400"/>
                        <a:t>Reprise automatique dès restauration du lien en panne</a:t>
                      </a:r>
                    </a:p>
                  </a:txBody>
                  <a:tcPr marL="53398" marR="53398" marT="26699" marB="26699" anchor="ctr"/>
                </a:tc>
                <a:tc>
                  <a:txBody>
                    <a:bodyPr/>
                    <a:lstStyle/>
                    <a:p>
                      <a:r>
                        <a:rPr lang="fr-FR" sz="1400"/>
                        <a:t>Mécanisme natif de reconvergence BGP/BFD</a:t>
                      </a:r>
                    </a:p>
                  </a:txBody>
                  <a:tcPr marL="53398" marR="53398" marT="26699" marB="26699" anchor="ctr"/>
                </a:tc>
                <a:tc>
                  <a:txBody>
                    <a:bodyPr/>
                    <a:lstStyle/>
                    <a:p>
                      <a:r>
                        <a:rPr lang="fr-CM" sz="1400"/>
                        <a:t>✅ Atteint</a:t>
                      </a:r>
                    </a:p>
                  </a:txBody>
                  <a:tcPr marL="53398" marR="53398" marT="26699" marB="26699" anchor="ctr"/>
                </a:tc>
                <a:extLst>
                  <a:ext uri="{0D108BD9-81ED-4DB2-BD59-A6C34878D82A}">
                    <a16:rowId xmlns:a16="http://schemas.microsoft.com/office/drawing/2014/main" val="3489010066"/>
                  </a:ext>
                </a:extLst>
              </a:tr>
              <a:tr h="591716">
                <a:tc>
                  <a:txBody>
                    <a:bodyPr/>
                    <a:lstStyle/>
                    <a:p>
                      <a:r>
                        <a:rPr lang="fr-FR" sz="1400"/>
                        <a:t>Préfixes IP publics non bloqués, quel que soit le chemin emprunté</a:t>
                      </a:r>
                    </a:p>
                  </a:txBody>
                  <a:tcPr marL="53398" marR="53398" marT="26699" marB="26699" anchor="ctr"/>
                </a:tc>
                <a:tc>
                  <a:txBody>
                    <a:bodyPr/>
                    <a:lstStyle/>
                    <a:p>
                      <a:r>
                        <a:rPr lang="fr-CM" sz="1400"/>
                        <a:t>Route statique Null0 (agrégation)</a:t>
                      </a:r>
                    </a:p>
                  </a:txBody>
                  <a:tcPr marL="53398" marR="53398" marT="26699" marB="26699" anchor="ctr"/>
                </a:tc>
                <a:tc>
                  <a:txBody>
                    <a:bodyPr/>
                    <a:lstStyle/>
                    <a:p>
                      <a:r>
                        <a:rPr lang="fr-CM" sz="1400"/>
                        <a:t>✅ Atteint</a:t>
                      </a:r>
                    </a:p>
                  </a:txBody>
                  <a:tcPr marL="53398" marR="53398" marT="26699" marB="26699" anchor="ctr"/>
                </a:tc>
                <a:extLst>
                  <a:ext uri="{0D108BD9-81ED-4DB2-BD59-A6C34878D82A}">
                    <a16:rowId xmlns:a16="http://schemas.microsoft.com/office/drawing/2014/main" val="1533484812"/>
                  </a:ext>
                </a:extLst>
              </a:tr>
              <a:tr h="591716">
                <a:tc>
                  <a:txBody>
                    <a:bodyPr/>
                    <a:lstStyle/>
                    <a:p>
                      <a:r>
                        <a:rPr lang="fr-FR" sz="1400"/>
                        <a:t>Bande passante optimale sur les deux liaisons (600/155 Mbps)</a:t>
                      </a:r>
                    </a:p>
                  </a:txBody>
                  <a:tcPr marL="53398" marR="53398" marT="26699" marB="26699" anchor="ctr"/>
                </a:tc>
                <a:tc>
                  <a:txBody>
                    <a:bodyPr/>
                    <a:lstStyle/>
                    <a:p>
                      <a:r>
                        <a:rPr lang="en-US" sz="1400"/>
                        <a:t>Outbound TE (Local Pref 300) + Inbound TE (AS-Path Prepending)</a:t>
                      </a:r>
                    </a:p>
                  </a:txBody>
                  <a:tcPr marL="53398" marR="53398" marT="26699" marB="26699" anchor="ctr"/>
                </a:tc>
                <a:tc>
                  <a:txBody>
                    <a:bodyPr/>
                    <a:lstStyle/>
                    <a:p>
                      <a:r>
                        <a:rPr lang="fr-CM" sz="1400"/>
                        <a:t>✅ Atteint</a:t>
                      </a:r>
                    </a:p>
                  </a:txBody>
                  <a:tcPr marL="53398" marR="53398" marT="26699" marB="26699" anchor="ctr"/>
                </a:tc>
                <a:extLst>
                  <a:ext uri="{0D108BD9-81ED-4DB2-BD59-A6C34878D82A}">
                    <a16:rowId xmlns:a16="http://schemas.microsoft.com/office/drawing/2014/main" val="2436028498"/>
                  </a:ext>
                </a:extLst>
              </a:tr>
              <a:tr h="591716">
                <a:tc>
                  <a:txBody>
                    <a:bodyPr/>
                    <a:lstStyle/>
                    <a:p>
                      <a:r>
                        <a:rPr lang="fr-FR" sz="1400"/>
                        <a:t>Latence optimale vers les contenus, quelle que soit la liaison</a:t>
                      </a:r>
                    </a:p>
                  </a:txBody>
                  <a:tcPr marL="53398" marR="53398" marT="26699" marB="26699" anchor="ctr"/>
                </a:tc>
                <a:tc>
                  <a:txBody>
                    <a:bodyPr/>
                    <a:lstStyle/>
                    <a:p>
                      <a:r>
                        <a:rPr lang="fr-CM" sz="1400"/>
                        <a:t>Exceptions de proximité géographique</a:t>
                      </a:r>
                    </a:p>
                  </a:txBody>
                  <a:tcPr marL="53398" marR="53398" marT="26699" marB="26699" anchor="ctr"/>
                </a:tc>
                <a:tc>
                  <a:txBody>
                    <a:bodyPr/>
                    <a:lstStyle/>
                    <a:p>
                      <a:r>
                        <a:rPr lang="fr-CM" sz="1400"/>
                        <a:t>✅ Atteint (51 ms mesurés)</a:t>
                      </a:r>
                    </a:p>
                  </a:txBody>
                  <a:tcPr marL="53398" marR="53398" marT="26699" marB="26699" anchor="ctr"/>
                </a:tc>
                <a:extLst>
                  <a:ext uri="{0D108BD9-81ED-4DB2-BD59-A6C34878D82A}">
                    <a16:rowId xmlns:a16="http://schemas.microsoft.com/office/drawing/2014/main" val="2496322784"/>
                  </a:ext>
                </a:extLst>
              </a:tr>
              <a:tr h="773767">
                <a:tc>
                  <a:txBody>
                    <a:bodyPr/>
                    <a:lstStyle/>
                    <a:p>
                      <a:r>
                        <a:rPr lang="fr-FR" sz="1400"/>
                        <a:t>Script de gestion automatique des clients VIP en cas de bascule</a:t>
                      </a:r>
                    </a:p>
                  </a:txBody>
                  <a:tcPr marL="53398" marR="53398" marT="26699" marB="26699" anchor="ctr"/>
                </a:tc>
                <a:tc>
                  <a:txBody>
                    <a:bodyPr/>
                    <a:lstStyle/>
                    <a:p>
                      <a:r>
                        <a:rPr lang="en-US" sz="1400"/>
                        <a:t>HQoS (Shaping + LLQ) via Communities/ACL-VIP</a:t>
                      </a:r>
                    </a:p>
                  </a:txBody>
                  <a:tcPr marL="53398" marR="53398" marT="26699" marB="26699" anchor="ctr"/>
                </a:tc>
                <a:tc>
                  <a:txBody>
                    <a:bodyPr/>
                    <a:lstStyle/>
                    <a:p>
                      <a:r>
                        <a:rPr lang="fr-FR" sz="1400" dirty="0"/>
                        <a:t>⚠️ Partiellement atteint (mécanisme QoS opérationnel, script </a:t>
                      </a:r>
                      <a:r>
                        <a:rPr lang="fr-FR" sz="1400" dirty="0" err="1"/>
                        <a:t>bash</a:t>
                      </a:r>
                      <a:r>
                        <a:rPr lang="fr-FR" sz="1400" dirty="0"/>
                        <a:t> d'automatisation non développé)</a:t>
                      </a:r>
                    </a:p>
                  </a:txBody>
                  <a:tcPr marL="53398" marR="53398" marT="26699" marB="26699" anchor="ctr"/>
                </a:tc>
                <a:extLst>
                  <a:ext uri="{0D108BD9-81ED-4DB2-BD59-A6C34878D82A}">
                    <a16:rowId xmlns:a16="http://schemas.microsoft.com/office/drawing/2014/main" val="1913166226"/>
                  </a:ext>
                </a:extLst>
              </a:tr>
              <a:tr h="481658">
                <a:tc>
                  <a:txBody>
                    <a:bodyPr/>
                    <a:lstStyle/>
                    <a:p>
                      <a:r>
                        <a:rPr lang="fr-FR" sz="1400"/>
                        <a:t>Intégration d'un 3ᵉ upstream satellitaire</a:t>
                      </a:r>
                    </a:p>
                  </a:txBody>
                  <a:tcPr marL="53398" marR="53398" marT="26699" marB="26699" anchor="ctr"/>
                </a:tc>
                <a:tc>
                  <a:txBody>
                    <a:bodyPr/>
                    <a:lstStyle/>
                    <a:p>
                      <a:r>
                        <a:rPr lang="fr-CM" sz="1400"/>
                        <a:t>—</a:t>
                      </a:r>
                    </a:p>
                  </a:txBody>
                  <a:tcPr marL="53398" marR="53398" marT="26699" marB="26699" anchor="ctr"/>
                </a:tc>
                <a:tc>
                  <a:txBody>
                    <a:bodyPr/>
                    <a:lstStyle/>
                    <a:p>
                      <a:r>
                        <a:rPr lang="fr-CM" sz="1400" dirty="0"/>
                        <a:t>❌ Non traité (perspective)</a:t>
                      </a:r>
                    </a:p>
                  </a:txBody>
                  <a:tcPr marL="53398" marR="53398" marT="26699" marB="26699" anchor="ctr"/>
                </a:tc>
                <a:extLst>
                  <a:ext uri="{0D108BD9-81ED-4DB2-BD59-A6C34878D82A}">
                    <a16:rowId xmlns:a16="http://schemas.microsoft.com/office/drawing/2014/main" val="2900313294"/>
                  </a:ext>
                </a:extLst>
              </a:tr>
            </a:tbl>
          </a:graphicData>
        </a:graphic>
      </p:graphicFrame>
    </p:spTree>
    <p:extLst>
      <p:ext uri="{BB962C8B-B14F-4D97-AF65-F5344CB8AC3E}">
        <p14:creationId xmlns:p14="http://schemas.microsoft.com/office/powerpoint/2010/main" val="740861246"/>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au contenu 4" descr="Valeurs numériqu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aphicFrame>
        <p:nvGraphicFramePr>
          <p:cNvPr id="6" name="Espace réservé au contenu 5" descr="Graphique 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802394347"/>
              </p:ext>
            </p:extLst>
          </p:nvPr>
        </p:nvGraphicFramePr>
        <p:xfrm>
          <a:off x="719570" y="2198254"/>
          <a:ext cx="8119630"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Image 9">
            <a:extLst>
              <a:ext uri="{FF2B5EF4-FFF2-40B4-BE49-F238E27FC236}">
                <a16:creationId xmlns:a16="http://schemas.microsoft.com/office/drawing/2014/main" id="{48BF8250-294D-4827-8A0B-B46A16C97F25}"/>
              </a:ext>
            </a:extLst>
          </p:cNvPr>
          <p:cNvPicPr>
            <a:picLocks noChangeAspect="1"/>
          </p:cNvPicPr>
          <p:nvPr/>
        </p:nvPicPr>
        <p:blipFill>
          <a:blip r:embed="rId9"/>
          <a:stretch>
            <a:fillRect/>
          </a:stretch>
        </p:blipFill>
        <p:spPr>
          <a:xfrm>
            <a:off x="64863" y="53176"/>
            <a:ext cx="1032661" cy="1030725"/>
          </a:xfrm>
          <a:prstGeom prst="rect">
            <a:avLst/>
          </a:prstGeom>
        </p:spPr>
      </p:pic>
      <p:pic>
        <p:nvPicPr>
          <p:cNvPr id="11" name="Image 10">
            <a:extLst>
              <a:ext uri="{FF2B5EF4-FFF2-40B4-BE49-F238E27FC236}">
                <a16:creationId xmlns:a16="http://schemas.microsoft.com/office/drawing/2014/main" id="{5E5198CE-DAFD-4E08-A881-B61E690926FE}"/>
              </a:ext>
            </a:extLst>
          </p:cNvPr>
          <p:cNvPicPr>
            <a:picLocks noChangeAspect="1"/>
          </p:cNvPicPr>
          <p:nvPr/>
        </p:nvPicPr>
        <p:blipFill>
          <a:blip r:embed="rId10"/>
          <a:stretch>
            <a:fillRect/>
          </a:stretch>
        </p:blipFill>
        <p:spPr>
          <a:xfrm>
            <a:off x="1097524" y="127962"/>
            <a:ext cx="1294589" cy="1093927"/>
          </a:xfrm>
          <a:prstGeom prst="rect">
            <a:avLst/>
          </a:prstGeom>
        </p:spPr>
      </p:pic>
      <p:pic>
        <p:nvPicPr>
          <p:cNvPr id="12" name="Image 11">
            <a:extLst>
              <a:ext uri="{FF2B5EF4-FFF2-40B4-BE49-F238E27FC236}">
                <a16:creationId xmlns:a16="http://schemas.microsoft.com/office/drawing/2014/main" id="{FAA5C716-CB73-4951-A3DD-AEAAFC598B15}"/>
              </a:ext>
            </a:extLst>
          </p:cNvPr>
          <p:cNvPicPr>
            <a:picLocks noChangeAspect="1"/>
          </p:cNvPicPr>
          <p:nvPr/>
        </p:nvPicPr>
        <p:blipFill>
          <a:blip r:embed="rId11"/>
          <a:stretch>
            <a:fillRect/>
          </a:stretch>
        </p:blipFill>
        <p:spPr>
          <a:xfrm>
            <a:off x="10238446" y="-24795"/>
            <a:ext cx="1914525" cy="923925"/>
          </a:xfrm>
          <a:prstGeom prst="rect">
            <a:avLst/>
          </a:prstGeom>
        </p:spPr>
      </p:pic>
      <p:pic>
        <p:nvPicPr>
          <p:cNvPr id="14" name="Image 13">
            <a:extLst>
              <a:ext uri="{FF2B5EF4-FFF2-40B4-BE49-F238E27FC236}">
                <a16:creationId xmlns:a16="http://schemas.microsoft.com/office/drawing/2014/main" id="{C275DDA1-2097-42A2-BDA5-ADBA55DBD847}"/>
              </a:ext>
            </a:extLst>
          </p:cNvPr>
          <p:cNvPicPr>
            <a:picLocks noChangeAspect="1"/>
          </p:cNvPicPr>
          <p:nvPr/>
        </p:nvPicPr>
        <p:blipFill>
          <a:blip r:embed="rId9"/>
          <a:stretch>
            <a:fillRect/>
          </a:stretch>
        </p:blipFill>
        <p:spPr>
          <a:xfrm>
            <a:off x="64863" y="25467"/>
            <a:ext cx="1032661" cy="1030725"/>
          </a:xfrm>
          <a:prstGeom prst="rect">
            <a:avLst/>
          </a:prstGeom>
        </p:spPr>
      </p:pic>
    </p:spTree>
    <p:extLst>
      <p:ext uri="{BB962C8B-B14F-4D97-AF65-F5344CB8AC3E}">
        <p14:creationId xmlns:p14="http://schemas.microsoft.com/office/powerpoint/2010/main" val="2147990641"/>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6-LIMITES ET PERSPECTIVES</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411860" y="1926080"/>
            <a:ext cx="11029616" cy="4893647"/>
          </a:xfrm>
          <a:prstGeom prst="rect">
            <a:avLst/>
          </a:prstGeom>
          <a:noFill/>
        </p:spPr>
        <p:txBody>
          <a:bodyPr wrap="square" rtlCol="0">
            <a:spAutoFit/>
          </a:bodyPr>
          <a:lstStyle/>
          <a:p>
            <a:pPr algn="just" rtl="0"/>
            <a:r>
              <a:rPr lang="fr-FR" sz="2400" dirty="0"/>
              <a:t>Le travail réalisé répond à l'essentiel des exigences exprimées par PRESTABIST, mais certains points du cahier des charges restent à approfondir :</a:t>
            </a:r>
          </a:p>
          <a:p>
            <a:pPr algn="just" rtl="0"/>
            <a:endParaRPr lang="fr-FR" sz="2400" dirty="0"/>
          </a:p>
          <a:p>
            <a:pPr marL="342900" indent="-342900" algn="just" rtl="0">
              <a:buFont typeface="Arial" panose="020B0604020202020204" pitchFamily="34" charset="0"/>
              <a:buChar char="•"/>
            </a:pPr>
            <a:r>
              <a:rPr lang="fr-FR" sz="2400" dirty="0"/>
              <a:t>Intégration d'un </a:t>
            </a:r>
            <a:r>
              <a:rPr lang="fr-FR" sz="2400" dirty="0" err="1"/>
              <a:t>upstream</a:t>
            </a:r>
            <a:r>
              <a:rPr lang="fr-FR" sz="2400" dirty="0"/>
              <a:t> satellitaire : le cahier des charges prévoyait une troisième sortie satellitaire pour une base de clients dédiée, cette intégration n'a pas été simulée et constitue un prolongement naturel du projet.</a:t>
            </a:r>
          </a:p>
          <a:p>
            <a:pPr algn="just" rtl="0"/>
            <a:endParaRPr lang="fr-FR" sz="2400" dirty="0"/>
          </a:p>
          <a:p>
            <a:pPr marL="342900" indent="-342900" algn="just" rtl="0">
              <a:buFont typeface="Arial" panose="020B0604020202020204" pitchFamily="34" charset="0"/>
              <a:buChar char="•"/>
            </a:pPr>
            <a:r>
              <a:rPr lang="fr-FR" sz="2400" dirty="0"/>
              <a:t>Automatisation de la gestion VIP : le mécanisme de qualité de service (</a:t>
            </a:r>
            <a:r>
              <a:rPr lang="fr-FR" sz="2400" dirty="0" err="1"/>
              <a:t>HQoS</a:t>
            </a:r>
            <a:r>
              <a:rPr lang="fr-FR" sz="2400" dirty="0"/>
              <a:t>) est fonctionnel, mais le script </a:t>
            </a:r>
            <a:r>
              <a:rPr lang="fr-FR" sz="2400" dirty="0" err="1"/>
              <a:t>bash</a:t>
            </a:r>
            <a:r>
              <a:rPr lang="fr-FR" sz="2400" dirty="0"/>
              <a:t> de gestion automatique des clients VIP explicitement demandé dans le cahier des charges reste à développer.</a:t>
            </a:r>
          </a:p>
          <a:p>
            <a:pPr algn="just" rtl="0"/>
            <a:endParaRPr lang="fr-FR" sz="2400" dirty="0"/>
          </a:p>
          <a:p>
            <a:pPr marL="342900" indent="-342900" algn="just" rtl="0">
              <a:buFont typeface="Arial" panose="020B0604020202020204" pitchFamily="34" charset="0"/>
              <a:buChar char="•"/>
            </a:pPr>
            <a:r>
              <a:rPr lang="fr-FR" sz="2400" dirty="0"/>
              <a:t>Sécurisation des sessions BGP : l'authentification des voisins BGP et la protection contre l'injection de routes non légitimes n'ont pas été traitées dans ce travail.</a:t>
            </a:r>
            <a:endParaRPr lang="fr-CM" sz="2400" dirty="0"/>
          </a:p>
        </p:txBody>
      </p:sp>
    </p:spTree>
    <p:extLst>
      <p:ext uri="{BB962C8B-B14F-4D97-AF65-F5344CB8AC3E}">
        <p14:creationId xmlns:p14="http://schemas.microsoft.com/office/powerpoint/2010/main" val="308937754"/>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au contenu 4" descr="Valeurs numériqu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aphicFrame>
        <p:nvGraphicFramePr>
          <p:cNvPr id="6" name="Espace réservé au contenu 5" descr="Graphique 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3291860127"/>
              </p:ext>
            </p:extLst>
          </p:nvPr>
        </p:nvGraphicFramePr>
        <p:xfrm>
          <a:off x="719570" y="2198254"/>
          <a:ext cx="8119630"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Image 9">
            <a:extLst>
              <a:ext uri="{FF2B5EF4-FFF2-40B4-BE49-F238E27FC236}">
                <a16:creationId xmlns:a16="http://schemas.microsoft.com/office/drawing/2014/main" id="{48BF8250-294D-4827-8A0B-B46A16C97F25}"/>
              </a:ext>
            </a:extLst>
          </p:cNvPr>
          <p:cNvPicPr>
            <a:picLocks noChangeAspect="1"/>
          </p:cNvPicPr>
          <p:nvPr/>
        </p:nvPicPr>
        <p:blipFill>
          <a:blip r:embed="rId9"/>
          <a:stretch>
            <a:fillRect/>
          </a:stretch>
        </p:blipFill>
        <p:spPr>
          <a:xfrm>
            <a:off x="64863" y="53176"/>
            <a:ext cx="1032661" cy="1030725"/>
          </a:xfrm>
          <a:prstGeom prst="rect">
            <a:avLst/>
          </a:prstGeom>
        </p:spPr>
      </p:pic>
      <p:pic>
        <p:nvPicPr>
          <p:cNvPr id="11" name="Image 10">
            <a:extLst>
              <a:ext uri="{FF2B5EF4-FFF2-40B4-BE49-F238E27FC236}">
                <a16:creationId xmlns:a16="http://schemas.microsoft.com/office/drawing/2014/main" id="{5E5198CE-DAFD-4E08-A881-B61E690926FE}"/>
              </a:ext>
            </a:extLst>
          </p:cNvPr>
          <p:cNvPicPr>
            <a:picLocks noChangeAspect="1"/>
          </p:cNvPicPr>
          <p:nvPr/>
        </p:nvPicPr>
        <p:blipFill>
          <a:blip r:embed="rId10"/>
          <a:stretch>
            <a:fillRect/>
          </a:stretch>
        </p:blipFill>
        <p:spPr>
          <a:xfrm>
            <a:off x="1097524" y="127962"/>
            <a:ext cx="1294589" cy="1093927"/>
          </a:xfrm>
          <a:prstGeom prst="rect">
            <a:avLst/>
          </a:prstGeom>
        </p:spPr>
      </p:pic>
      <p:pic>
        <p:nvPicPr>
          <p:cNvPr id="12" name="Image 11">
            <a:extLst>
              <a:ext uri="{FF2B5EF4-FFF2-40B4-BE49-F238E27FC236}">
                <a16:creationId xmlns:a16="http://schemas.microsoft.com/office/drawing/2014/main" id="{FAA5C716-CB73-4951-A3DD-AEAAFC598B15}"/>
              </a:ext>
            </a:extLst>
          </p:cNvPr>
          <p:cNvPicPr>
            <a:picLocks noChangeAspect="1"/>
          </p:cNvPicPr>
          <p:nvPr/>
        </p:nvPicPr>
        <p:blipFill>
          <a:blip r:embed="rId11"/>
          <a:stretch>
            <a:fillRect/>
          </a:stretch>
        </p:blipFill>
        <p:spPr>
          <a:xfrm>
            <a:off x="10238446" y="-24795"/>
            <a:ext cx="1914525" cy="923925"/>
          </a:xfrm>
          <a:prstGeom prst="rect">
            <a:avLst/>
          </a:prstGeom>
        </p:spPr>
      </p:pic>
      <p:pic>
        <p:nvPicPr>
          <p:cNvPr id="14" name="Image 13">
            <a:extLst>
              <a:ext uri="{FF2B5EF4-FFF2-40B4-BE49-F238E27FC236}">
                <a16:creationId xmlns:a16="http://schemas.microsoft.com/office/drawing/2014/main" id="{C275DDA1-2097-42A2-BDA5-ADBA55DBD847}"/>
              </a:ext>
            </a:extLst>
          </p:cNvPr>
          <p:cNvPicPr>
            <a:picLocks noChangeAspect="1"/>
          </p:cNvPicPr>
          <p:nvPr/>
        </p:nvPicPr>
        <p:blipFill>
          <a:blip r:embed="rId9"/>
          <a:stretch>
            <a:fillRect/>
          </a:stretch>
        </p:blipFill>
        <p:spPr>
          <a:xfrm>
            <a:off x="64863" y="25467"/>
            <a:ext cx="1032661" cy="1030725"/>
          </a:xfrm>
          <a:prstGeom prst="rect">
            <a:avLst/>
          </a:prstGeom>
        </p:spPr>
      </p:pic>
    </p:spTree>
    <p:extLst>
      <p:ext uri="{BB962C8B-B14F-4D97-AF65-F5344CB8AC3E}">
        <p14:creationId xmlns:p14="http://schemas.microsoft.com/office/powerpoint/2010/main" val="2274319074"/>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algn="ctr" rtl="0"/>
            <a:r>
              <a:rPr lang="fr-FR" dirty="0"/>
              <a:t>8- CONCLUSION</a:t>
            </a:r>
          </a:p>
        </p:txBody>
      </p:sp>
      <p:pic>
        <p:nvPicPr>
          <p:cNvPr id="5" name="Image 4">
            <a:extLst>
              <a:ext uri="{FF2B5EF4-FFF2-40B4-BE49-F238E27FC236}">
                <a16:creationId xmlns:a16="http://schemas.microsoft.com/office/drawing/2014/main" id="{123C888F-F229-4283-8371-1200D8A6F0E3}"/>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6" name="Image 5">
            <a:extLst>
              <a:ext uri="{FF2B5EF4-FFF2-40B4-BE49-F238E27FC236}">
                <a16:creationId xmlns:a16="http://schemas.microsoft.com/office/drawing/2014/main" id="{9480EBDF-DF24-47AC-A28B-860A4E89049B}"/>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7" name="Image 6">
            <a:extLst>
              <a:ext uri="{FF2B5EF4-FFF2-40B4-BE49-F238E27FC236}">
                <a16:creationId xmlns:a16="http://schemas.microsoft.com/office/drawing/2014/main" id="{25F462C1-FAD5-44F7-BF48-EC73E84A972E}"/>
              </a:ext>
            </a:extLst>
          </p:cNvPr>
          <p:cNvPicPr>
            <a:picLocks noChangeAspect="1"/>
          </p:cNvPicPr>
          <p:nvPr/>
        </p:nvPicPr>
        <p:blipFill>
          <a:blip r:embed="rId3"/>
          <a:stretch>
            <a:fillRect/>
          </a:stretch>
        </p:blipFill>
        <p:spPr>
          <a:xfrm>
            <a:off x="10238446" y="-24795"/>
            <a:ext cx="1914525" cy="923925"/>
          </a:xfrm>
          <a:prstGeom prst="rect">
            <a:avLst/>
          </a:prstGeom>
        </p:spPr>
      </p:pic>
      <p:pic>
        <p:nvPicPr>
          <p:cNvPr id="8" name="Image 7">
            <a:extLst>
              <a:ext uri="{FF2B5EF4-FFF2-40B4-BE49-F238E27FC236}">
                <a16:creationId xmlns:a16="http://schemas.microsoft.com/office/drawing/2014/main" id="{85557CC5-E562-4D8D-BFA5-4AD68D10DD17}"/>
              </a:ext>
            </a:extLst>
          </p:cNvPr>
          <p:cNvPicPr>
            <a:picLocks noChangeAspect="1"/>
          </p:cNvPicPr>
          <p:nvPr/>
        </p:nvPicPr>
        <p:blipFill>
          <a:blip r:embed="rId5"/>
          <a:stretch>
            <a:fillRect/>
          </a:stretch>
        </p:blipFill>
        <p:spPr>
          <a:xfrm>
            <a:off x="64863" y="25467"/>
            <a:ext cx="1032661" cy="1030725"/>
          </a:xfrm>
          <a:prstGeom prst="rect">
            <a:avLst/>
          </a:prstGeom>
        </p:spPr>
      </p:pic>
      <p:sp>
        <p:nvSpPr>
          <p:cNvPr id="13" name="ZoneTexte 12">
            <a:extLst>
              <a:ext uri="{FF2B5EF4-FFF2-40B4-BE49-F238E27FC236}">
                <a16:creationId xmlns:a16="http://schemas.microsoft.com/office/drawing/2014/main" id="{858B790C-FC7B-43A7-859D-50C04FE50AD0}"/>
              </a:ext>
            </a:extLst>
          </p:cNvPr>
          <p:cNvSpPr txBox="1"/>
          <p:nvPr/>
        </p:nvSpPr>
        <p:spPr>
          <a:xfrm>
            <a:off x="348639" y="1836391"/>
            <a:ext cx="11029616" cy="4893647"/>
          </a:xfrm>
          <a:prstGeom prst="rect">
            <a:avLst/>
          </a:prstGeom>
          <a:noFill/>
        </p:spPr>
        <p:txBody>
          <a:bodyPr wrap="square" rtlCol="0">
            <a:spAutoFit/>
          </a:bodyPr>
          <a:lstStyle/>
          <a:p>
            <a:pPr algn="just" rtl="0"/>
            <a:r>
              <a:rPr lang="fr-FR" sz="2400" dirty="0"/>
              <a:t>Ce stage nous a permis de résoudre un problème réel rencontré par l'entreprise partenaire PRESTABIST. Le travail s'est déroulé en deux temps :</a:t>
            </a:r>
          </a:p>
          <a:p>
            <a:pPr marL="342900" indent="-342900" algn="just" rtl="0">
              <a:buFont typeface="Arial" panose="020B0604020202020204" pitchFamily="34" charset="0"/>
              <a:buChar char="•"/>
            </a:pPr>
            <a:r>
              <a:rPr lang="fr-FR" sz="2400" dirty="0"/>
              <a:t>D'abord, une fiabilisation du routage interne pour stabiliser l'infrastructure</a:t>
            </a:r>
          </a:p>
          <a:p>
            <a:pPr marL="342900" indent="-342900" algn="just" rtl="0">
              <a:buFont typeface="Arial" panose="020B0604020202020204" pitchFamily="34" charset="0"/>
              <a:buChar char="•"/>
            </a:pPr>
            <a:r>
              <a:rPr lang="fr-FR" sz="2400" dirty="0"/>
              <a:t>Ensuite, une ingénierie de trafic BGP pour optimiser les échanges avec les fournisseurs de contenu</a:t>
            </a:r>
          </a:p>
          <a:p>
            <a:pPr algn="just" rtl="0"/>
            <a:endParaRPr lang="fr-FR" sz="2400" dirty="0"/>
          </a:p>
          <a:p>
            <a:pPr algn="just" rtl="0"/>
            <a:r>
              <a:rPr lang="fr-FR" sz="2400" dirty="0"/>
              <a:t>Les résultats obtenus sont concrets :</a:t>
            </a:r>
          </a:p>
          <a:p>
            <a:pPr marL="342900" indent="-342900" rtl="0">
              <a:buFont typeface="Arial" panose="020B0604020202020204" pitchFamily="34" charset="0"/>
              <a:buChar char="•"/>
            </a:pPr>
            <a:r>
              <a:rPr lang="fr-FR" sz="2400" dirty="0"/>
              <a:t>Une convergence quasi instantanée en cas de panne</a:t>
            </a:r>
          </a:p>
          <a:p>
            <a:pPr marL="342900" indent="-342900" rtl="0">
              <a:buFont typeface="Arial" panose="020B0604020202020204" pitchFamily="34" charset="0"/>
              <a:buChar char="•"/>
            </a:pPr>
            <a:r>
              <a:rPr lang="fr-FR" sz="2400" dirty="0"/>
              <a:t>Une latence optimisée autour de 51 ms</a:t>
            </a:r>
          </a:p>
          <a:p>
            <a:pPr marL="342900" indent="-342900" rtl="0">
              <a:buFont typeface="Arial" panose="020B0604020202020204" pitchFamily="34" charset="0"/>
              <a:buChar char="•"/>
            </a:pPr>
            <a:r>
              <a:rPr lang="fr-FR" sz="2400" dirty="0"/>
              <a:t>Une charge mieux répartie entre les deux liaisons</a:t>
            </a:r>
          </a:p>
          <a:p>
            <a:pPr rtl="0"/>
            <a:endParaRPr lang="fr-FR" sz="2400" dirty="0"/>
          </a:p>
          <a:p>
            <a:pPr rtl="0"/>
            <a:r>
              <a:rPr lang="fr-FR" sz="2400" dirty="0"/>
              <a:t>Cette expérience nous a permis de mettre en pratique nos connaissances théoriques face à une problématique réelle d'opérateur télécom.</a:t>
            </a:r>
            <a:endParaRPr lang="fr-CM" sz="2400" dirty="0"/>
          </a:p>
        </p:txBody>
      </p:sp>
    </p:spTree>
    <p:extLst>
      <p:ext uri="{BB962C8B-B14F-4D97-AF65-F5344CB8AC3E}">
        <p14:creationId xmlns:p14="http://schemas.microsoft.com/office/powerpoint/2010/main" val="3507313469"/>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5" name="Image 4" descr="Valeurs numérique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rtlCol="0">
            <a:normAutofit/>
          </a:bodyPr>
          <a:lstStyle/>
          <a:p>
            <a:pPr rtl="0"/>
            <a:r>
              <a:rPr lang="fr-FR">
                <a:solidFill>
                  <a:srgbClr val="FFFFFF"/>
                </a:solidFill>
              </a:rPr>
              <a:t>Merci de votre attention</a:t>
            </a:r>
          </a:p>
        </p:txBody>
      </p:sp>
      <p:sp>
        <p:nvSpPr>
          <p:cNvPr id="3" name="Sous-titr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rtlCol="0">
            <a:normAutofit/>
          </a:bodyPr>
          <a:lstStyle/>
          <a:p>
            <a:pPr rtl="0"/>
            <a:r>
              <a:rPr lang="fr-FR">
                <a:solidFill>
                  <a:schemeClr val="bg2"/>
                </a:solidFill>
              </a:rPr>
              <a:t>xyz@example.com</a:t>
            </a:r>
          </a:p>
          <a:p>
            <a:pPr rtl="0"/>
            <a:endParaRPr lang="fr-FR">
              <a:solidFill>
                <a:schemeClr val="bg2"/>
              </a:solidFill>
            </a:endParaRPr>
          </a:p>
          <a:p>
            <a:pPr rtl="0"/>
            <a:endParaRPr lang="fr-FR">
              <a:solidFill>
                <a:schemeClr val="bg2"/>
              </a:solidFill>
            </a:endParaRPr>
          </a:p>
        </p:txBody>
      </p:sp>
      <p:grpSp>
        <p:nvGrpSpPr>
          <p:cNvPr id="14" name="Groupe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pic>
        <p:nvPicPr>
          <p:cNvPr id="11" name="Image 10">
            <a:extLst>
              <a:ext uri="{FF2B5EF4-FFF2-40B4-BE49-F238E27FC236}">
                <a16:creationId xmlns:a16="http://schemas.microsoft.com/office/drawing/2014/main" id="{A60F5073-934E-4227-893F-367B8300E553}"/>
              </a:ext>
            </a:extLst>
          </p:cNvPr>
          <p:cNvPicPr>
            <a:picLocks noChangeAspect="1"/>
          </p:cNvPicPr>
          <p:nvPr/>
        </p:nvPicPr>
        <p:blipFill>
          <a:blip r:embed="rId4"/>
          <a:stretch>
            <a:fillRect/>
          </a:stretch>
        </p:blipFill>
        <p:spPr>
          <a:xfrm>
            <a:off x="1097524" y="127962"/>
            <a:ext cx="1294589" cy="1093927"/>
          </a:xfrm>
          <a:prstGeom prst="rect">
            <a:avLst/>
          </a:prstGeom>
        </p:spPr>
      </p:pic>
      <p:pic>
        <p:nvPicPr>
          <p:cNvPr id="13" name="Image 12">
            <a:extLst>
              <a:ext uri="{FF2B5EF4-FFF2-40B4-BE49-F238E27FC236}">
                <a16:creationId xmlns:a16="http://schemas.microsoft.com/office/drawing/2014/main" id="{AA101DEF-3695-44FD-866F-989EFE45426F}"/>
              </a:ext>
            </a:extLst>
          </p:cNvPr>
          <p:cNvPicPr>
            <a:picLocks noChangeAspect="1"/>
          </p:cNvPicPr>
          <p:nvPr/>
        </p:nvPicPr>
        <p:blipFill>
          <a:blip r:embed="rId5"/>
          <a:stretch>
            <a:fillRect/>
          </a:stretch>
        </p:blipFill>
        <p:spPr>
          <a:xfrm>
            <a:off x="10238446" y="-24795"/>
            <a:ext cx="1914525" cy="923925"/>
          </a:xfrm>
          <a:prstGeom prst="rect">
            <a:avLst/>
          </a:prstGeom>
        </p:spPr>
      </p:pic>
      <p:pic>
        <p:nvPicPr>
          <p:cNvPr id="18" name="Image 17">
            <a:extLst>
              <a:ext uri="{FF2B5EF4-FFF2-40B4-BE49-F238E27FC236}">
                <a16:creationId xmlns:a16="http://schemas.microsoft.com/office/drawing/2014/main" id="{D872668C-C7CC-4B13-BC22-22A4AD863025}"/>
              </a:ext>
            </a:extLst>
          </p:cNvPr>
          <p:cNvPicPr>
            <a:picLocks noChangeAspect="1"/>
          </p:cNvPicPr>
          <p:nvPr/>
        </p:nvPicPr>
        <p:blipFill>
          <a:blip r:embed="rId6"/>
          <a:stretch>
            <a:fillRect/>
          </a:stretch>
        </p:blipFill>
        <p:spPr>
          <a:xfrm>
            <a:off x="64863" y="25467"/>
            <a:ext cx="1032661" cy="1030725"/>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e">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BC12AA-1C15-4500-BC9C-8EE83A441DE9}">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A0CF3B2-1F0F-4FC5-8002-3E4869ABAD55}">
  <ds:schemaRefs>
    <ds:schemaRef ds:uri="http://schemas.microsoft.com/sharepoint/v3/contenttype/forms"/>
  </ds:schemaRefs>
</ds:datastoreItem>
</file>

<file path=customXml/itemProps3.xml><?xml version="1.0" encoding="utf-8"?>
<ds:datastoreItem xmlns:ds="http://schemas.openxmlformats.org/officeDocument/2006/customXml" ds:itemID="{1F69AFF4-BB30-4BA0-AD22-82CC3C432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Technologies - Conception Dividende</Template>
  <TotalTime>204</TotalTime>
  <Words>2057</Words>
  <Application>Microsoft Office PowerPoint</Application>
  <PresentationFormat>Grand écran</PresentationFormat>
  <Paragraphs>241</Paragraphs>
  <Slides>37</Slides>
  <Notes>37</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37</vt:i4>
      </vt:variant>
    </vt:vector>
  </HeadingPairs>
  <TitlesOfParts>
    <vt:vector size="43" baseType="lpstr">
      <vt:lpstr>Arial</vt:lpstr>
      <vt:lpstr>Calibri</vt:lpstr>
      <vt:lpstr>Gill Sans MT</vt:lpstr>
      <vt:lpstr>Wingdings</vt:lpstr>
      <vt:lpstr>Wingdings 2</vt:lpstr>
      <vt:lpstr>Dividende</vt:lpstr>
      <vt:lpstr>Optimisation du routage BGP pour le peering entre FAI et fournisseurs de contenu (CDN) : Cas de PRESTABIST</vt:lpstr>
      <vt:lpstr>PlaN de presentation</vt:lpstr>
      <vt:lpstr>Présentation PowerPoint</vt:lpstr>
      <vt:lpstr>1.1- Contexte générale</vt:lpstr>
      <vt:lpstr>1.2- PROBLEMATIQUE</vt:lpstr>
      <vt:lpstr>1.3- OBJECTIFS</vt:lpstr>
      <vt:lpstr>1.4- DEFINITIONS DES TERMES CLES</vt:lpstr>
      <vt:lpstr>Présentation PowerPoint</vt:lpstr>
      <vt:lpstr>2.1- Présentation de l’entreprise</vt:lpstr>
      <vt:lpstr>Présentation PowerPoint</vt:lpstr>
      <vt:lpstr>3.1- CONTEXTE et architecture réseau</vt:lpstr>
      <vt:lpstr>3.2- PROBLEMES GENERAUX</vt:lpstr>
      <vt:lpstr>3.3.- PROBLEMES GENERAUX</vt:lpstr>
      <vt:lpstr>3.4- PROBLEMES GENERAUX</vt:lpstr>
      <vt:lpstr>3.5- PROBLEMES GENERAUX</vt:lpstr>
      <vt:lpstr>3.6- Manquement lies au peering FAI-CDN</vt:lpstr>
      <vt:lpstr>3.7- Manquement lies au peering FAI-CDN</vt:lpstr>
      <vt:lpstr>3.8- Manquement lies au peering FAI-CDN</vt:lpstr>
      <vt:lpstr>Présentation PowerPoint</vt:lpstr>
      <vt:lpstr>4.1- Phase 1:  Fiabilisation de l’infrastructure</vt:lpstr>
      <vt:lpstr>4.1- Phase 1:  Fiabilisation de l’infrastructure</vt:lpstr>
      <vt:lpstr>4.1- Phase 1:  Fiabilisation de l’infrastructure</vt:lpstr>
      <vt:lpstr>4.1- Phase 1:  Fiabilisation de l’infrastructure</vt:lpstr>
      <vt:lpstr>4.1- Phase 1:  Fiabilisation de l’infrastructure</vt:lpstr>
      <vt:lpstr>4.1- Phase 1:  Fiabilisation de l’infrastructure</vt:lpstr>
      <vt:lpstr>4.2- Phase 2: Ingénierie du trafic BGP pour le peering FAI-CDN</vt:lpstr>
      <vt:lpstr>4.2- Phase 2: Ingénierie du trafic BGP pour le peering FAI-CDN</vt:lpstr>
      <vt:lpstr>4.2- Phase 2: Ingénierie du trafic BGP pour le peering FAI-CDN</vt:lpstr>
      <vt:lpstr>4.2- Phase 2: Ingénierie du trafic BGP pour le peering FAI-CDN</vt:lpstr>
      <vt:lpstr>4.2- Phase 2: Ingénierie du trafic BGP pour le peering FAI-CDN</vt:lpstr>
      <vt:lpstr>Présentation PowerPoint</vt:lpstr>
      <vt:lpstr>TABLEAU DE VALIDATION</vt:lpstr>
      <vt:lpstr>Présentation PowerPoint</vt:lpstr>
      <vt:lpstr>6-LIMITES ET PERSPECTIVES</vt:lpstr>
      <vt:lpstr>Présentation PowerPoint</vt:lpstr>
      <vt:lpstr>8- CONCLUSION</vt:lpstr>
      <vt:lpstr>Merci de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Optimisation du routage BGP pour le peering entre FAI et fournisseurs de contenu (CDN) : Cas de PRESTABIST</dc:title>
  <dc:creator>Neko Kitis</dc:creator>
  <cp:lastModifiedBy>Neko Kitis</cp:lastModifiedBy>
  <cp:revision>18</cp:revision>
  <dcterms:created xsi:type="dcterms:W3CDTF">2026-09-25T00:41:31Z</dcterms:created>
  <dcterms:modified xsi:type="dcterms:W3CDTF">2026-09-25T04:05:32Z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